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4" r:id="rId3"/>
    <p:sldId id="271" r:id="rId4"/>
    <p:sldId id="272" r:id="rId5"/>
    <p:sldId id="285" r:id="rId6"/>
    <p:sldId id="260" r:id="rId7"/>
    <p:sldId id="275" r:id="rId8"/>
    <p:sldId id="276" r:id="rId9"/>
    <p:sldId id="280" r:id="rId10"/>
    <p:sldId id="278" r:id="rId11"/>
    <p:sldId id="274" r:id="rId12"/>
    <p:sldId id="270" r:id="rId13"/>
    <p:sldId id="281" r:id="rId14"/>
    <p:sldId id="282" r:id="rId15"/>
    <p:sldId id="28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57A057-F3E2-4145-B4CC-9448217FA024}" v="211" dt="2026-02-17T04:29:52.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92610-6F32-48CD-A180-CE70BCDF05EA}" type="datetimeFigureOut">
              <a:rPr lang="en-IN" smtClean="0"/>
              <a:pPr/>
              <a:t>28-02-2026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E12B5-B9C3-4CAD-927C-32B0EA3E6A8F}" type="slidenum">
              <a:rPr lang="en-IN" smtClean="0"/>
              <a:pPr/>
              <a:t>‹#›</a:t>
            </a:fld>
            <a:endParaRPr lang="en-IN"/>
          </a:p>
        </p:txBody>
      </p:sp>
    </p:spTree>
    <p:extLst>
      <p:ext uri="{BB962C8B-B14F-4D97-AF65-F5344CB8AC3E}">
        <p14:creationId xmlns:p14="http://schemas.microsoft.com/office/powerpoint/2010/main" val="3991033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F797D-91F7-2021-8AAA-210BE3FAB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C5155-7022-92C9-9E71-F5ED8CAA7F5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C292376-304E-0876-4FC2-4019C91FA2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CC8793-F25C-BE29-4731-C3E4DA596E76}"/>
              </a:ext>
            </a:extLst>
          </p:cNvPr>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826624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6081-2CC4-3B3F-9540-15AEB003D4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643917-E7E8-E8BD-EDD0-3A36E34B5F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BD5A8E-FD42-25EA-6307-AE021BFC0704}"/>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5" name="Footer Placeholder 4">
            <a:extLst>
              <a:ext uri="{FF2B5EF4-FFF2-40B4-BE49-F238E27FC236}">
                <a16:creationId xmlns:a16="http://schemas.microsoft.com/office/drawing/2014/main" id="{9D71AB9B-EF5E-701E-6CD2-7AA228BD94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C7CB23-0283-A39C-F44F-7DBE15494944}"/>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3947334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EF37-E239-0898-20E6-3A66770CD5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D09071-EF3E-A4AA-5D84-8CC2EB0E9E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CC84FB-F817-D788-92B9-30B60C6EEDD4}"/>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5" name="Footer Placeholder 4">
            <a:extLst>
              <a:ext uri="{FF2B5EF4-FFF2-40B4-BE49-F238E27FC236}">
                <a16:creationId xmlns:a16="http://schemas.microsoft.com/office/drawing/2014/main" id="{6336FB6D-AC6D-FBA3-FEC7-2F493930C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D4E73F-45F0-E7AF-6D7C-40B56329AE69}"/>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799426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D4B81-7AC9-DC06-020A-1CF4A3D74A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A89CF7D-9FEF-7496-F0CC-7266E3DE19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C93CF9-BA38-1642-5E77-D1161FD725B1}"/>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5" name="Footer Placeholder 4">
            <a:extLst>
              <a:ext uri="{FF2B5EF4-FFF2-40B4-BE49-F238E27FC236}">
                <a16:creationId xmlns:a16="http://schemas.microsoft.com/office/drawing/2014/main" id="{79ADE586-6F94-EA70-C207-E50CDD3294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5DBFAA-388D-AC2E-A964-3B08879BA24D}"/>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3588181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5EF1-D217-FDF8-71A1-F9FA10C6D5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D37F7C-D850-F9D3-FE90-9B44DD4B9E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47CE17-A046-8799-52CE-909FA091C2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6A0F575-9546-BB2C-55B5-695C9B1691DC}"/>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6" name="Footer Placeholder 5">
            <a:extLst>
              <a:ext uri="{FF2B5EF4-FFF2-40B4-BE49-F238E27FC236}">
                <a16:creationId xmlns:a16="http://schemas.microsoft.com/office/drawing/2014/main" id="{EA2CF09B-0896-BBC5-923E-1142FB0FA3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5D65D9-DAB2-D549-DB90-7FE482F88CCF}"/>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2535926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DCDF4-ABD1-F84A-E5D2-F43B0602BFC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175EAC-4FAE-B890-52F9-2CD807937A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A81F50-15E6-77CD-B68C-7BE7C8776B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A5CC12-C6A6-967F-0DAC-0A2C887E2E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53D901-6807-6367-139D-3FA6B54492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DBD99D-AB50-CE29-7F00-B57ABC299068}"/>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8" name="Footer Placeholder 7">
            <a:extLst>
              <a:ext uri="{FF2B5EF4-FFF2-40B4-BE49-F238E27FC236}">
                <a16:creationId xmlns:a16="http://schemas.microsoft.com/office/drawing/2014/main" id="{169CF913-E3C6-AF33-DC64-EE25119E3A6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C17125-BCD2-309E-F809-68B7BB2769F7}"/>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2084678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54C99-BDB3-2DEF-3E03-BE3A7B99AA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BEDABC9-CBCC-DFDF-2B1A-B8A46BACD162}"/>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4" name="Footer Placeholder 3">
            <a:extLst>
              <a:ext uri="{FF2B5EF4-FFF2-40B4-BE49-F238E27FC236}">
                <a16:creationId xmlns:a16="http://schemas.microsoft.com/office/drawing/2014/main" id="{5FB5CC89-6F81-1598-6AC1-E453E7CF02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E638233-3AC0-D960-183C-1DE5100E3D3B}"/>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3846561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C00D89-EEF0-F84A-2B9D-124456FB87A3}"/>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3" name="Footer Placeholder 2">
            <a:extLst>
              <a:ext uri="{FF2B5EF4-FFF2-40B4-BE49-F238E27FC236}">
                <a16:creationId xmlns:a16="http://schemas.microsoft.com/office/drawing/2014/main" id="{D82480F2-7E10-8176-BA07-D396538081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ADF5FFF-4F18-482A-F2FC-8B3B9893896F}"/>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3435684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946B3-FF07-16CC-25C0-A13EF45940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B7A7F8-A0DD-F499-0627-206CBA4F4A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FD61972-73AA-14CA-D253-A08C6A2F62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04B63-D924-D154-3F5D-ADF4A319C88B}"/>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6" name="Footer Placeholder 5">
            <a:extLst>
              <a:ext uri="{FF2B5EF4-FFF2-40B4-BE49-F238E27FC236}">
                <a16:creationId xmlns:a16="http://schemas.microsoft.com/office/drawing/2014/main" id="{A3891951-584F-4832-B812-E6731FB0AF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365828-6223-B62F-0651-17F1E2AEE697}"/>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2265714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09A0B-28C0-BBC6-65F4-CD440C078F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B63403-2A72-3434-1B9C-63193690AE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71B6319-C8A3-5BA4-3AB1-376B10231D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2CBE0E-73BF-4B87-BB3E-B42CDC803D71}"/>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6" name="Footer Placeholder 5">
            <a:extLst>
              <a:ext uri="{FF2B5EF4-FFF2-40B4-BE49-F238E27FC236}">
                <a16:creationId xmlns:a16="http://schemas.microsoft.com/office/drawing/2014/main" id="{F643F971-9CA4-2E3E-D14A-D5FA1099F4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F10604-8EE1-86C5-80C9-5E52F8188A40}"/>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3970967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BE233-4F69-2647-E1E3-39DDC8F763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E462B9-26B3-04BD-64E0-8D4D6AEC22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D71BC5-7D6C-3602-AA02-195A3A935AAA}"/>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5" name="Footer Placeholder 4">
            <a:extLst>
              <a:ext uri="{FF2B5EF4-FFF2-40B4-BE49-F238E27FC236}">
                <a16:creationId xmlns:a16="http://schemas.microsoft.com/office/drawing/2014/main" id="{862CDE99-A78D-D422-D8CE-790368510B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32DDE8-B034-F483-AC37-F86F235F9F3A}"/>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3938489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C3309-87E4-6F61-8AFC-ACB3ADB4ED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9CB84D-A7BB-1CAC-4FBA-C68EE33B3C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B67757-27B2-913D-9DF6-6ABE9BE9BACB}"/>
              </a:ext>
            </a:extLst>
          </p:cNvPr>
          <p:cNvSpPr>
            <a:spLocks noGrp="1"/>
          </p:cNvSpPr>
          <p:nvPr>
            <p:ph type="dt" sz="half" idx="10"/>
          </p:nvPr>
        </p:nvSpPr>
        <p:spPr/>
        <p:txBody>
          <a:bodyPr/>
          <a:lstStyle/>
          <a:p>
            <a:fld id="{AF7624C9-FA81-4F1E-85CF-6EC8A53FCB94}" type="datetimeFigureOut">
              <a:rPr lang="en-IN" smtClean="0"/>
              <a:pPr/>
              <a:t>28-02-2026</a:t>
            </a:fld>
            <a:endParaRPr lang="en-IN"/>
          </a:p>
        </p:txBody>
      </p:sp>
      <p:sp>
        <p:nvSpPr>
          <p:cNvPr id="5" name="Footer Placeholder 4">
            <a:extLst>
              <a:ext uri="{FF2B5EF4-FFF2-40B4-BE49-F238E27FC236}">
                <a16:creationId xmlns:a16="http://schemas.microsoft.com/office/drawing/2014/main" id="{BD5D052B-8D13-C997-FA42-5DD9D004D0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531394-4D66-7DA1-4B7F-F2BCE4C84780}"/>
              </a:ext>
            </a:extLst>
          </p:cNvPr>
          <p:cNvSpPr>
            <a:spLocks noGrp="1"/>
          </p:cNvSpPr>
          <p:nvPr>
            <p:ph type="sldNum" sz="quarter" idx="12"/>
          </p:nvPr>
        </p:nvSpPr>
        <p:spPr/>
        <p:txBody>
          <a:bodyPr/>
          <a:lstStyle/>
          <a:p>
            <a:fld id="{D71D1EE1-5364-4953-AA7F-A55A94370C01}" type="slidenum">
              <a:rPr lang="en-IN" smtClean="0"/>
              <a:pPr/>
              <a:t>‹#›</a:t>
            </a:fld>
            <a:endParaRPr lang="en-IN"/>
          </a:p>
        </p:txBody>
      </p:sp>
    </p:spTree>
    <p:extLst>
      <p:ext uri="{BB962C8B-B14F-4D97-AF65-F5344CB8AC3E}">
        <p14:creationId xmlns:p14="http://schemas.microsoft.com/office/powerpoint/2010/main" val="3116431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cstate="print"/>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90355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cstate="print"/>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8094784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cstate="print"/>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8157235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cstate="print"/>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898742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A548D1-B8D0-5718-E723-9EB95C6311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CD83E4-E05D-FF73-560B-5D352957E9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3E5C51-585D-A76F-2A97-BB3DA98156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7624C9-FA81-4F1E-85CF-6EC8A53FCB94}" type="datetimeFigureOut">
              <a:rPr lang="en-IN" smtClean="0"/>
              <a:pPr/>
              <a:t>28-02-2026</a:t>
            </a:fld>
            <a:endParaRPr lang="en-IN"/>
          </a:p>
        </p:txBody>
      </p:sp>
      <p:sp>
        <p:nvSpPr>
          <p:cNvPr id="5" name="Footer Placeholder 4">
            <a:extLst>
              <a:ext uri="{FF2B5EF4-FFF2-40B4-BE49-F238E27FC236}">
                <a16:creationId xmlns:a16="http://schemas.microsoft.com/office/drawing/2014/main" id="{0BB9AC5D-8CA5-0781-4AD2-8D9E7EE4F7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390C36-FDFC-70D1-EF82-3BF94EC925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1D1EE1-5364-4953-AA7F-A55A94370C01}" type="slidenum">
              <a:rPr lang="en-IN" smtClean="0"/>
              <a:pPr/>
              <a:t>‹#›</a:t>
            </a:fld>
            <a:endParaRPr lang="en-IN"/>
          </a:p>
        </p:txBody>
      </p:sp>
    </p:spTree>
    <p:extLst>
      <p:ext uri="{BB962C8B-B14F-4D97-AF65-F5344CB8AC3E}">
        <p14:creationId xmlns:p14="http://schemas.microsoft.com/office/powerpoint/2010/main" val="1016846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www.researchgate.net/publication/400494340_AI-Powered_Resource_Management_for_Cost-Effective_and_SLA-Compliant_Cloud_Operations"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A7D42-055C-AD3C-3229-F779764ACFEA}"/>
              </a:ext>
            </a:extLst>
          </p:cNvPr>
          <p:cNvSpPr>
            <a:spLocks noGrp="1"/>
          </p:cNvSpPr>
          <p:nvPr>
            <p:ph type="ctrTitle"/>
          </p:nvPr>
        </p:nvSpPr>
        <p:spPr>
          <a:xfrm>
            <a:off x="1240971" y="806678"/>
            <a:ext cx="9710057" cy="2093686"/>
          </a:xfrm>
        </p:spPr>
        <p:txBody>
          <a:bodyPr>
            <a:normAutofit/>
          </a:bodyPr>
          <a:lstStyle/>
          <a:p>
            <a:pPr marL="0" indent="0">
              <a:lnSpc>
                <a:spcPct val="100000"/>
              </a:lnSpc>
            </a:pPr>
            <a:r>
              <a:rPr lang="en-US" sz="3900" b="1" dirty="0">
                <a:latin typeface="Times New Roman" pitchFamily="18" charset="0"/>
                <a:cs typeface="Times New Roman" pitchFamily="18" charset="0"/>
              </a:rPr>
              <a:t>AI-Driven Cloud Resource Allocation Using Predictive &amp; Reinforcement Learning</a:t>
            </a:r>
          </a:p>
        </p:txBody>
      </p:sp>
      <p:sp>
        <p:nvSpPr>
          <p:cNvPr id="3" name="Subtitle 2">
            <a:extLst>
              <a:ext uri="{FF2B5EF4-FFF2-40B4-BE49-F238E27FC236}">
                <a16:creationId xmlns:a16="http://schemas.microsoft.com/office/drawing/2014/main" id="{75E3C6A3-A31F-6F25-A5AC-7C22A14C4B4A}"/>
              </a:ext>
            </a:extLst>
          </p:cNvPr>
          <p:cNvSpPr>
            <a:spLocks noGrp="1"/>
          </p:cNvSpPr>
          <p:nvPr>
            <p:ph type="subTitle" idx="1"/>
          </p:nvPr>
        </p:nvSpPr>
        <p:spPr>
          <a:xfrm>
            <a:off x="1524000" y="3316288"/>
            <a:ext cx="9144000" cy="523648"/>
          </a:xfrm>
        </p:spPr>
        <p:txBody>
          <a:bodyPr/>
          <a:lstStyle/>
          <a:p>
            <a:r>
              <a:rPr lang="en-US" dirty="0">
                <a:solidFill>
                  <a:srgbClr val="808080"/>
                </a:solidFill>
                <a:latin typeface="Times New Roman" panose="02020603050405020304" pitchFamily="18" charset="0"/>
                <a:ea typeface="Inter" pitchFamily="34" charset="-122"/>
                <a:cs typeface="Times New Roman" panose="02020603050405020304" pitchFamily="18" charset="0"/>
              </a:rPr>
              <a:t>Major Project | Vasavi College of Engineering Department of IT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90EDBF0-5D66-905A-B39F-28FE0FC25283}"/>
              </a:ext>
            </a:extLst>
          </p:cNvPr>
          <p:cNvSpPr txBox="1"/>
          <p:nvPr/>
        </p:nvSpPr>
        <p:spPr>
          <a:xfrm>
            <a:off x="8806543" y="4604974"/>
            <a:ext cx="2579914" cy="1631216"/>
          </a:xfrm>
          <a:prstGeom prst="rect">
            <a:avLst/>
          </a:prstGeom>
          <a:noFill/>
        </p:spPr>
        <p:txBody>
          <a:bodyPr wrap="square">
            <a:spAutoFit/>
          </a:bodyPr>
          <a:lstStyle/>
          <a:p>
            <a:r>
              <a:rPr lang="en-IN" sz="2500" dirty="0">
                <a:latin typeface="Times New Roman" panose="02020603050405020304" pitchFamily="18" charset="0"/>
                <a:ea typeface="Inter" panose="020B0604020202020204" charset="0"/>
                <a:cs typeface="Times New Roman" panose="02020603050405020304" pitchFamily="18" charset="0"/>
              </a:rPr>
              <a:t>1602-22-737-102</a:t>
            </a:r>
            <a:br>
              <a:rPr lang="en-IN" sz="2500" dirty="0">
                <a:latin typeface="Times New Roman" panose="02020603050405020304" pitchFamily="18" charset="0"/>
                <a:ea typeface="Inter" panose="020B0604020202020204" charset="0"/>
                <a:cs typeface="Times New Roman" panose="02020603050405020304" pitchFamily="18" charset="0"/>
              </a:rPr>
            </a:br>
            <a:r>
              <a:rPr lang="en-IN" sz="2500" dirty="0" err="1">
                <a:latin typeface="Times New Roman" panose="02020603050405020304" pitchFamily="18" charset="0"/>
                <a:ea typeface="Inter" panose="020B0604020202020204" charset="0"/>
                <a:cs typeface="Times New Roman" panose="02020603050405020304" pitchFamily="18" charset="0"/>
              </a:rPr>
              <a:t>Prudhvikanth</a:t>
            </a:r>
            <a:br>
              <a:rPr lang="en-IN" sz="2500" dirty="0">
                <a:latin typeface="Times New Roman" panose="02020603050405020304" pitchFamily="18" charset="0"/>
                <a:ea typeface="Inter" panose="020B0604020202020204" charset="0"/>
                <a:cs typeface="Times New Roman" panose="02020603050405020304" pitchFamily="18" charset="0"/>
              </a:rPr>
            </a:br>
            <a:r>
              <a:rPr lang="en-IN" sz="2500" dirty="0">
                <a:latin typeface="Times New Roman" panose="02020603050405020304" pitchFamily="18" charset="0"/>
                <a:ea typeface="Inter" panose="020B0604020202020204" charset="0"/>
                <a:cs typeface="Times New Roman" panose="02020603050405020304" pitchFamily="18" charset="0"/>
              </a:rPr>
              <a:t>1602-22-737-123</a:t>
            </a:r>
          </a:p>
          <a:p>
            <a:r>
              <a:rPr lang="en-IN" sz="2500" dirty="0" err="1">
                <a:latin typeface="Times New Roman" panose="02020603050405020304" pitchFamily="18" charset="0"/>
                <a:ea typeface="Inter" panose="020B0604020202020204" charset="0"/>
                <a:cs typeface="Times New Roman" panose="02020603050405020304" pitchFamily="18" charset="0"/>
              </a:rPr>
              <a:t>Srivan</a:t>
            </a:r>
            <a:r>
              <a:rPr lang="en-IN" sz="2500" dirty="0">
                <a:latin typeface="Times New Roman" panose="02020603050405020304" pitchFamily="18" charset="0"/>
                <a:ea typeface="Inter" panose="020B0604020202020204" charset="0"/>
                <a:cs typeface="Times New Roman" panose="02020603050405020304" pitchFamily="18" charset="0"/>
              </a:rPr>
              <a:t> </a:t>
            </a:r>
            <a:r>
              <a:rPr lang="en-IN" sz="2500" dirty="0" err="1">
                <a:latin typeface="Times New Roman" panose="02020603050405020304" pitchFamily="18" charset="0"/>
                <a:ea typeface="Inter" panose="020B0604020202020204" charset="0"/>
                <a:cs typeface="Times New Roman" panose="02020603050405020304" pitchFamily="18" charset="0"/>
              </a:rPr>
              <a:t>kumar</a:t>
            </a:r>
            <a:endParaRPr lang="en-IN" sz="2500" dirty="0">
              <a:latin typeface="Times New Roman" panose="02020603050405020304" pitchFamily="18" charset="0"/>
              <a:ea typeface="Inter" panose="020B0604020202020204" charset="0"/>
              <a:cs typeface="Times New Roman" panose="02020603050405020304" pitchFamily="18" charset="0"/>
            </a:endParaRPr>
          </a:p>
        </p:txBody>
      </p:sp>
    </p:spTree>
    <p:extLst>
      <p:ext uri="{BB962C8B-B14F-4D97-AF65-F5344CB8AC3E}">
        <p14:creationId xmlns:p14="http://schemas.microsoft.com/office/powerpoint/2010/main" val="1077956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441974" y="1238068"/>
            <a:ext cx="4725492" cy="590649"/>
          </a:xfrm>
          <a:prstGeom prst="rect">
            <a:avLst/>
          </a:prstGeom>
          <a:noFill/>
          <a:ln/>
        </p:spPr>
        <p:txBody>
          <a:bodyPr wrap="none" lIns="0" tIns="0" rIns="0" bIns="0" rtlCol="0" anchor="t"/>
          <a:lstStyle/>
          <a:p>
            <a:pPr>
              <a:lnSpc>
                <a:spcPts val="4625"/>
              </a:lnSpc>
            </a:pPr>
            <a:r>
              <a:rPr lang="en-US" sz="3900" b="1" dirty="0">
                <a:solidFill>
                  <a:srgbClr val="000000"/>
                </a:solidFill>
                <a:latin typeface="Times New Roman" panose="02020603050405020304" pitchFamily="18" charset="0"/>
                <a:ea typeface="Inter Bold" pitchFamily="34" charset="-122"/>
                <a:cs typeface="Times New Roman" panose="02020603050405020304" pitchFamily="18" charset="0"/>
              </a:rPr>
              <a:t>Objectives</a:t>
            </a:r>
            <a:endParaRPr lang="en-US" sz="3900" dirty="0">
              <a:latin typeface="Times New Roman" panose="02020603050405020304" pitchFamily="18" charset="0"/>
              <a:cs typeface="Times New Roman" panose="02020603050405020304" pitchFamily="18" charset="0"/>
            </a:endParaRPr>
          </a:p>
        </p:txBody>
      </p:sp>
      <p:sp>
        <p:nvSpPr>
          <p:cNvPr id="3" name="Text 1"/>
          <p:cNvSpPr/>
          <p:nvPr/>
        </p:nvSpPr>
        <p:spPr>
          <a:xfrm>
            <a:off x="661492" y="2222500"/>
            <a:ext cx="189012" cy="236240"/>
          </a:xfrm>
          <a:prstGeom prst="rect">
            <a:avLst/>
          </a:prstGeom>
          <a:noFill/>
          <a:ln/>
        </p:spPr>
        <p:txBody>
          <a:bodyPr wrap="none" lIns="0" tIns="0" rIns="0" bIns="0" rtlCol="0" anchor="t"/>
          <a:lstStyle/>
          <a:p>
            <a:pPr>
              <a:lnSpc>
                <a:spcPts val="2375"/>
              </a:lnSpc>
            </a:pPr>
            <a:r>
              <a:rPr lang="en-US" sz="1458" dirty="0">
                <a:solidFill>
                  <a:srgbClr val="272525"/>
                </a:solidFill>
                <a:latin typeface="Inter Light" pitchFamily="34" charset="0"/>
                <a:ea typeface="Inter Light" pitchFamily="34" charset="-122"/>
                <a:cs typeface="Inter Light" pitchFamily="34" charset="-120"/>
              </a:rPr>
              <a:t>01</a:t>
            </a:r>
            <a:endParaRPr lang="en-US" sz="1458" dirty="0"/>
          </a:p>
        </p:txBody>
      </p:sp>
      <p:sp>
        <p:nvSpPr>
          <p:cNvPr id="4" name="Shape 2"/>
          <p:cNvSpPr/>
          <p:nvPr/>
        </p:nvSpPr>
        <p:spPr>
          <a:xfrm flipV="1">
            <a:off x="661492" y="2515495"/>
            <a:ext cx="4922252" cy="45719"/>
          </a:xfrm>
          <a:prstGeom prst="rect">
            <a:avLst/>
          </a:prstGeom>
          <a:solidFill>
            <a:srgbClr val="4950BC"/>
          </a:solidFill>
          <a:ln/>
        </p:spPr>
        <p:txBody>
          <a:bodyPr/>
          <a:lstStyle/>
          <a:p>
            <a:endParaRPr lang="en-IN"/>
          </a:p>
        </p:txBody>
      </p:sp>
      <p:sp>
        <p:nvSpPr>
          <p:cNvPr id="5" name="Text 3"/>
          <p:cNvSpPr/>
          <p:nvPr/>
        </p:nvSpPr>
        <p:spPr>
          <a:xfrm>
            <a:off x="661492" y="2759324"/>
            <a:ext cx="2788444" cy="295275"/>
          </a:xfrm>
          <a:prstGeom prst="rect">
            <a:avLst/>
          </a:prstGeom>
          <a:noFill/>
          <a:ln/>
        </p:spPr>
        <p:txBody>
          <a:bodyPr wrap="none" lIns="0" tIns="0" rIns="0" bIns="0" rtlCol="0" anchor="t"/>
          <a:lstStyle/>
          <a:p>
            <a:pPr>
              <a:lnSpc>
                <a:spcPts val="2292"/>
              </a:lnSpc>
            </a:pPr>
            <a:r>
              <a:rPr lang="en-US" sz="1900" b="1" dirty="0">
                <a:latin typeface="Times New Roman" pitchFamily="18" charset="0"/>
                <a:cs typeface="Times New Roman" pitchFamily="18" charset="0"/>
              </a:rPr>
              <a:t>Intelligent Workload Prediction</a:t>
            </a:r>
          </a:p>
        </p:txBody>
      </p:sp>
      <p:sp>
        <p:nvSpPr>
          <p:cNvPr id="6" name="Text 4"/>
          <p:cNvSpPr/>
          <p:nvPr/>
        </p:nvSpPr>
        <p:spPr>
          <a:xfrm>
            <a:off x="661492" y="3118052"/>
            <a:ext cx="4922252" cy="604838"/>
          </a:xfrm>
          <a:prstGeom prst="rect">
            <a:avLst/>
          </a:prstGeom>
          <a:noFill/>
          <a:ln/>
        </p:spPr>
        <p:txBody>
          <a:bodyPr wrap="square" lIns="0" tIns="0" rIns="0" bIns="0" rtlCol="0" anchor="t"/>
          <a:lstStyle/>
          <a:p>
            <a:pPr algn="just">
              <a:lnSpc>
                <a:spcPts val="2375"/>
              </a:lnSpc>
            </a:pPr>
            <a:r>
              <a:rPr lang="en-US" sz="1600" dirty="0"/>
              <a:t>Develop a time-series forecasting model </a:t>
            </a:r>
            <a:r>
              <a:rPr lang="en-US" sz="1600" dirty="0" err="1"/>
              <a:t>XGBoost</a:t>
            </a:r>
            <a:r>
              <a:rPr lang="en-US" sz="1600" dirty="0"/>
              <a:t> to accurately predict future cloud workload demands based on historical CPU, memory, and traffic logs.</a:t>
            </a:r>
            <a:endParaRPr lang="en-US" sz="1100" dirty="0">
              <a:latin typeface="Times New Roman" pitchFamily="18" charset="0"/>
              <a:cs typeface="Times New Roman" pitchFamily="18" charset="0"/>
            </a:endParaRPr>
          </a:p>
          <a:p>
            <a:pPr algn="just">
              <a:lnSpc>
                <a:spcPts val="2375"/>
              </a:lnSpc>
            </a:pP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flipH="1">
            <a:off x="6804720" y="2249139"/>
            <a:ext cx="1044815" cy="91481"/>
          </a:xfrm>
          <a:prstGeom prst="rect">
            <a:avLst/>
          </a:prstGeom>
          <a:noFill/>
          <a:ln/>
        </p:spPr>
        <p:txBody>
          <a:bodyPr wrap="none" lIns="0" tIns="0" rIns="0" bIns="0" rtlCol="0" anchor="t"/>
          <a:lstStyle/>
          <a:p>
            <a:pPr>
              <a:lnSpc>
                <a:spcPts val="2375"/>
              </a:lnSpc>
            </a:pPr>
            <a:r>
              <a:rPr lang="en-US" sz="1458" dirty="0">
                <a:solidFill>
                  <a:srgbClr val="272525"/>
                </a:solidFill>
                <a:latin typeface="Inter Light" pitchFamily="34" charset="0"/>
                <a:ea typeface="Inter Light" pitchFamily="34" charset="-122"/>
                <a:cs typeface="Inter Light" pitchFamily="34" charset="-120"/>
              </a:rPr>
              <a:t>02</a:t>
            </a:r>
            <a:endParaRPr lang="en-US" sz="1458" dirty="0"/>
          </a:p>
        </p:txBody>
      </p:sp>
      <p:sp>
        <p:nvSpPr>
          <p:cNvPr id="12" name="Shape 10"/>
          <p:cNvSpPr/>
          <p:nvPr/>
        </p:nvSpPr>
        <p:spPr>
          <a:xfrm>
            <a:off x="6608257" y="2535852"/>
            <a:ext cx="4725491" cy="45719"/>
          </a:xfrm>
          <a:prstGeom prst="rect">
            <a:avLst/>
          </a:prstGeom>
          <a:solidFill>
            <a:srgbClr val="4950BC"/>
          </a:solidFill>
          <a:ln/>
        </p:spPr>
        <p:txBody>
          <a:bodyPr/>
          <a:lstStyle/>
          <a:p>
            <a:endParaRPr lang="en-IN"/>
          </a:p>
        </p:txBody>
      </p:sp>
      <p:sp>
        <p:nvSpPr>
          <p:cNvPr id="13" name="Text 11"/>
          <p:cNvSpPr/>
          <p:nvPr/>
        </p:nvSpPr>
        <p:spPr>
          <a:xfrm>
            <a:off x="6608256" y="2718035"/>
            <a:ext cx="3265998" cy="263924"/>
          </a:xfrm>
          <a:prstGeom prst="rect">
            <a:avLst/>
          </a:prstGeom>
          <a:noFill/>
          <a:ln/>
        </p:spPr>
        <p:txBody>
          <a:bodyPr wrap="none" lIns="0" tIns="0" rIns="0" bIns="0" rtlCol="0" anchor="t"/>
          <a:lstStyle/>
          <a:p>
            <a:pPr>
              <a:lnSpc>
                <a:spcPts val="2292"/>
              </a:lnSpc>
            </a:pPr>
            <a:r>
              <a:rPr lang="en-US" sz="1900" b="1" dirty="0">
                <a:latin typeface="Times New Roman" pitchFamily="18" charset="0"/>
                <a:cs typeface="Times New Roman" pitchFamily="18" charset="0"/>
              </a:rPr>
              <a:t>Optimal Resource Allocation</a:t>
            </a:r>
          </a:p>
        </p:txBody>
      </p:sp>
      <p:sp>
        <p:nvSpPr>
          <p:cNvPr id="14" name="Text 12"/>
          <p:cNvSpPr/>
          <p:nvPr/>
        </p:nvSpPr>
        <p:spPr>
          <a:xfrm>
            <a:off x="6608256" y="3118424"/>
            <a:ext cx="4725491" cy="604838"/>
          </a:xfrm>
          <a:prstGeom prst="rect">
            <a:avLst/>
          </a:prstGeom>
          <a:noFill/>
          <a:ln/>
        </p:spPr>
        <p:txBody>
          <a:bodyPr wrap="square" lIns="0" tIns="0" rIns="0" bIns="0" rtlCol="0" anchor="t"/>
          <a:lstStyle/>
          <a:p>
            <a:pPr algn="just">
              <a:lnSpc>
                <a:spcPts val="2375"/>
              </a:lnSpc>
            </a:pPr>
            <a:r>
              <a:rPr lang="en-US" sz="1600" dirty="0"/>
              <a:t>Design and implement a Linear Programming–based optimization model integrated with a learning paradigm (LP²) to allocate CPU, RAM, and bandwidth efficiently under SLA constraints.</a:t>
            </a:r>
            <a:endParaRPr lang="en-US" sz="1458" dirty="0">
              <a:latin typeface="Times New Roman" panose="02020603050405020304" pitchFamily="18" charset="0"/>
              <a:cs typeface="Times New Roman" panose="02020603050405020304" pitchFamily="18" charset="0"/>
            </a:endParaRPr>
          </a:p>
        </p:txBody>
      </p:sp>
      <p:sp>
        <p:nvSpPr>
          <p:cNvPr id="15" name="Text 13"/>
          <p:cNvSpPr/>
          <p:nvPr/>
        </p:nvSpPr>
        <p:spPr>
          <a:xfrm>
            <a:off x="661492" y="4007843"/>
            <a:ext cx="189012" cy="236240"/>
          </a:xfrm>
          <a:prstGeom prst="rect">
            <a:avLst/>
          </a:prstGeom>
          <a:noFill/>
          <a:ln/>
        </p:spPr>
        <p:txBody>
          <a:bodyPr wrap="none" lIns="0" tIns="0" rIns="0" bIns="0" rtlCol="0" anchor="t"/>
          <a:lstStyle/>
          <a:p>
            <a:pPr>
              <a:lnSpc>
                <a:spcPts val="2375"/>
              </a:lnSpc>
            </a:pPr>
            <a:r>
              <a:rPr lang="en-US" sz="1458" dirty="0">
                <a:solidFill>
                  <a:srgbClr val="272525"/>
                </a:solidFill>
                <a:latin typeface="Inter Light" pitchFamily="34" charset="0"/>
                <a:ea typeface="Inter Light" pitchFamily="34" charset="-122"/>
                <a:cs typeface="Inter Light" pitchFamily="34" charset="-120"/>
              </a:rPr>
              <a:t>03</a:t>
            </a:r>
            <a:endParaRPr lang="en-US" sz="1458" dirty="0"/>
          </a:p>
        </p:txBody>
      </p:sp>
      <p:sp>
        <p:nvSpPr>
          <p:cNvPr id="16" name="Shape 14"/>
          <p:cNvSpPr/>
          <p:nvPr/>
        </p:nvSpPr>
        <p:spPr>
          <a:xfrm flipV="1">
            <a:off x="661492" y="4307781"/>
            <a:ext cx="4922252" cy="49710"/>
          </a:xfrm>
          <a:prstGeom prst="rect">
            <a:avLst/>
          </a:prstGeom>
          <a:solidFill>
            <a:srgbClr val="4950BC"/>
          </a:solidFill>
          <a:ln/>
        </p:spPr>
        <p:txBody>
          <a:bodyPr/>
          <a:lstStyle/>
          <a:p>
            <a:endParaRPr lang="en-IN" dirty="0"/>
          </a:p>
        </p:txBody>
      </p:sp>
      <p:sp>
        <p:nvSpPr>
          <p:cNvPr id="21" name="Text 19"/>
          <p:cNvSpPr/>
          <p:nvPr/>
        </p:nvSpPr>
        <p:spPr>
          <a:xfrm>
            <a:off x="661492" y="4522987"/>
            <a:ext cx="2362696" cy="295275"/>
          </a:xfrm>
          <a:prstGeom prst="rect">
            <a:avLst/>
          </a:prstGeom>
          <a:noFill/>
          <a:ln/>
        </p:spPr>
        <p:txBody>
          <a:bodyPr wrap="none" lIns="0" tIns="0" rIns="0" bIns="0" rtlCol="0" anchor="t"/>
          <a:lstStyle/>
          <a:p>
            <a:pPr>
              <a:lnSpc>
                <a:spcPts val="2292"/>
              </a:lnSpc>
            </a:pPr>
            <a:r>
              <a:rPr lang="en-US" sz="1900" b="1" dirty="0">
                <a:latin typeface="Times New Roman" pitchFamily="18" charset="0"/>
                <a:cs typeface="Times New Roman" pitchFamily="18" charset="0"/>
              </a:rPr>
              <a:t>Reinforcement Learning for Adaptive Placement</a:t>
            </a:r>
          </a:p>
        </p:txBody>
      </p:sp>
      <p:sp>
        <p:nvSpPr>
          <p:cNvPr id="22" name="Text 20"/>
          <p:cNvSpPr/>
          <p:nvPr/>
        </p:nvSpPr>
        <p:spPr>
          <a:xfrm>
            <a:off x="661493" y="4857651"/>
            <a:ext cx="4922252" cy="604838"/>
          </a:xfrm>
          <a:prstGeom prst="rect">
            <a:avLst/>
          </a:prstGeom>
          <a:noFill/>
          <a:ln/>
        </p:spPr>
        <p:txBody>
          <a:bodyPr wrap="square" lIns="0" tIns="0" rIns="0" bIns="0" rtlCol="0" anchor="t"/>
          <a:lstStyle/>
          <a:p>
            <a:pPr algn="just">
              <a:lnSpc>
                <a:spcPts val="2375"/>
              </a:lnSpc>
            </a:pPr>
            <a:r>
              <a:rPr lang="en-US" sz="1600" dirty="0">
                <a:latin typeface="Times New Roman" pitchFamily="18" charset="0"/>
                <a:cs typeface="Times New Roman" pitchFamily="18" charset="0"/>
              </a:rPr>
              <a:t>Build a Deep Reinforcement Learning agent to dynamically optimize VM and container placement decisions based on system state and reward feedback.</a:t>
            </a:r>
          </a:p>
        </p:txBody>
      </p:sp>
      <p:sp>
        <p:nvSpPr>
          <p:cNvPr id="23" name="Rectangle 22">
            <a:extLst>
              <a:ext uri="{FF2B5EF4-FFF2-40B4-BE49-F238E27FC236}">
                <a16:creationId xmlns:a16="http://schemas.microsoft.com/office/drawing/2014/main" id="{8A13B392-BB27-1396-B30B-0A0628D5CCC0}"/>
              </a:ext>
            </a:extLst>
          </p:cNvPr>
          <p:cNvSpPr/>
          <p:nvPr/>
        </p:nvSpPr>
        <p:spPr>
          <a:xfrm>
            <a:off x="10718132" y="6446921"/>
            <a:ext cx="1383632" cy="3024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3512" y="497780"/>
            <a:ext cx="4646059" cy="732305"/>
          </a:xfrm>
          <a:prstGeom prst="rect">
            <a:avLst/>
          </a:prstGeom>
          <a:noFill/>
          <a:ln/>
        </p:spPr>
        <p:txBody>
          <a:bodyPr wrap="none" lIns="0" tIns="0" rIns="0" bIns="0" rtlCol="0" anchor="t"/>
          <a:lstStyle/>
          <a:p>
            <a:pPr>
              <a:lnSpc>
                <a:spcPts val="4416"/>
              </a:lnSpc>
            </a:pPr>
            <a:r>
              <a:rPr lang="en-US" sz="3900" b="1" dirty="0">
                <a:solidFill>
                  <a:srgbClr val="000000"/>
                </a:solidFill>
                <a:latin typeface="Times New Roman" panose="02020603050405020304" pitchFamily="18" charset="0"/>
                <a:ea typeface="Inter Bold" pitchFamily="34" charset="-122"/>
                <a:cs typeface="Times New Roman" panose="02020603050405020304" pitchFamily="18" charset="0"/>
              </a:rPr>
              <a:t>Base Paper</a:t>
            </a:r>
            <a:endParaRPr lang="en-US" sz="3900" dirty="0">
              <a:latin typeface="Times New Roman" panose="02020603050405020304" pitchFamily="18" charset="0"/>
              <a:cs typeface="Times New Roman" panose="02020603050405020304" pitchFamily="18" charset="0"/>
            </a:endParaRPr>
          </a:p>
        </p:txBody>
      </p:sp>
      <p:sp>
        <p:nvSpPr>
          <p:cNvPr id="3" name="Text 1"/>
          <p:cNvSpPr/>
          <p:nvPr/>
        </p:nvSpPr>
        <p:spPr>
          <a:xfrm>
            <a:off x="633512" y="1496715"/>
            <a:ext cx="3922217" cy="282873"/>
          </a:xfrm>
          <a:prstGeom prst="rect">
            <a:avLst/>
          </a:prstGeom>
          <a:noFill/>
          <a:ln/>
        </p:spPr>
        <p:txBody>
          <a:bodyPr wrap="none" lIns="0" tIns="0" rIns="0" bIns="0" rtlCol="0" anchor="t"/>
          <a:lstStyle/>
          <a:p>
            <a:pPr>
              <a:lnSpc>
                <a:spcPts val="2208"/>
              </a:lnSpc>
            </a:pPr>
            <a:r>
              <a:rPr lang="en-US" sz="1750" b="1" dirty="0">
                <a:solidFill>
                  <a:srgbClr val="000000"/>
                </a:solidFill>
                <a:latin typeface="Inter Bold" pitchFamily="34" charset="0"/>
                <a:ea typeface="Inter Bold" pitchFamily="34" charset="-122"/>
                <a:cs typeface="Inter Bold" pitchFamily="34" charset="-120"/>
              </a:rPr>
              <a:t>Key Reference for our Methodology</a:t>
            </a:r>
            <a:endParaRPr lang="en-US" sz="1750" dirty="0"/>
          </a:p>
        </p:txBody>
      </p:sp>
      <p:sp>
        <p:nvSpPr>
          <p:cNvPr id="4" name="Text 2"/>
          <p:cNvSpPr/>
          <p:nvPr/>
        </p:nvSpPr>
        <p:spPr>
          <a:xfrm>
            <a:off x="633512" y="1952922"/>
            <a:ext cx="4843056" cy="1748221"/>
          </a:xfrm>
          <a:prstGeom prst="rect">
            <a:avLst/>
          </a:prstGeom>
          <a:noFill/>
          <a:ln/>
        </p:spPr>
        <p:txBody>
          <a:bodyPr wrap="square" lIns="0" tIns="0" rIns="0" bIns="0" rtlCol="0" anchor="t"/>
          <a:lstStyle/>
          <a:p>
            <a:endParaRPr lang="en-US" sz="1417" dirty="0">
              <a:latin typeface="Times New Roman" pitchFamily="18" charset="0"/>
              <a:cs typeface="Times New Roman" pitchFamily="18" charset="0"/>
            </a:endParaRPr>
          </a:p>
        </p:txBody>
      </p:sp>
      <p:sp>
        <p:nvSpPr>
          <p:cNvPr id="5" name="Text 3">
            <a:hlinkClick r:id="rId3"/>
          </p:cNvPr>
          <p:cNvSpPr/>
          <p:nvPr/>
        </p:nvSpPr>
        <p:spPr>
          <a:xfrm>
            <a:off x="604937" y="5619580"/>
            <a:ext cx="3720774" cy="255985"/>
          </a:xfrm>
          <a:prstGeom prst="rect">
            <a:avLst/>
          </a:prstGeom>
          <a:noFill/>
          <a:ln/>
        </p:spPr>
        <p:txBody>
          <a:bodyPr wrap="none" lIns="0" tIns="0" rIns="0" bIns="0" rtlCol="0" anchor="t"/>
          <a:lstStyle/>
          <a:p>
            <a:pPr>
              <a:lnSpc>
                <a:spcPts val="2208"/>
              </a:lnSpc>
            </a:pPr>
            <a:r>
              <a:rPr lang="en-US" sz="1417" dirty="0">
                <a:solidFill>
                  <a:srgbClr val="272525"/>
                </a:solidFill>
                <a:latin typeface="Inter" pitchFamily="34" charset="0"/>
                <a:ea typeface="Inter" pitchFamily="34" charset="-122"/>
                <a:cs typeface="Inter" pitchFamily="34" charset="-120"/>
              </a:rPr>
              <a:t>Access the full paper here: </a:t>
            </a:r>
            <a:r>
              <a:rPr lang="en-US" sz="1417" dirty="0">
                <a:solidFill>
                  <a:srgbClr val="272525"/>
                </a:solidFill>
                <a:latin typeface="Inter" pitchFamily="34" charset="0"/>
                <a:ea typeface="Inter" pitchFamily="34" charset="-122"/>
                <a:cs typeface="Inter" pitchFamily="34" charset="-120"/>
                <a:hlinkClick r:id="rId3"/>
              </a:rPr>
              <a:t>Link to base paper</a:t>
            </a:r>
            <a:endParaRPr lang="en-US" sz="1417" dirty="0"/>
          </a:p>
        </p:txBody>
      </p:sp>
      <p:pic>
        <p:nvPicPr>
          <p:cNvPr id="7" name="Picture 6">
            <a:extLst>
              <a:ext uri="{FF2B5EF4-FFF2-40B4-BE49-F238E27FC236}">
                <a16:creationId xmlns:a16="http://schemas.microsoft.com/office/drawing/2014/main" id="{ED7FE293-5B5E-A5D7-8E4E-530D4E5212C4}"/>
              </a:ext>
            </a:extLst>
          </p:cNvPr>
          <p:cNvPicPr>
            <a:picLocks noChangeAspect="1"/>
          </p:cNvPicPr>
          <p:nvPr/>
        </p:nvPicPr>
        <p:blipFill>
          <a:blip r:embed="rId4"/>
          <a:stretch>
            <a:fillRect/>
          </a:stretch>
        </p:blipFill>
        <p:spPr>
          <a:xfrm>
            <a:off x="6177003" y="0"/>
            <a:ext cx="5933993" cy="6858000"/>
          </a:xfrm>
          <a:prstGeom prst="rect">
            <a:avLst/>
          </a:prstGeom>
        </p:spPr>
      </p:pic>
      <p:sp>
        <p:nvSpPr>
          <p:cNvPr id="11" name="Rectangle 3">
            <a:extLst>
              <a:ext uri="{FF2B5EF4-FFF2-40B4-BE49-F238E27FC236}">
                <a16:creationId xmlns:a16="http://schemas.microsoft.com/office/drawing/2014/main" id="{1505D819-1AC8-DA69-0B83-429E26AC07F0}"/>
              </a:ext>
            </a:extLst>
          </p:cNvPr>
          <p:cNvSpPr>
            <a:spLocks noChangeArrowheads="1"/>
          </p:cNvSpPr>
          <p:nvPr/>
        </p:nvSpPr>
        <p:spPr bwMode="auto">
          <a:xfrm>
            <a:off x="633513" y="1978817"/>
            <a:ext cx="5740488"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 methodology is based on the AI-powered predictive resource management framework proposed for SLA-compliant and cost-efficient cloud operations . The base paper applies supervised learning for workload forecasting and adaptive scaling to maintain SLA while reducing cost.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Building on this, our work uses regression-based predictive modeling to forecast CPU and memory utilization, enabling proactive and intelligent cloud resource allocation.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30933" y="793949"/>
            <a:ext cx="8769449" cy="414734"/>
          </a:xfrm>
          <a:prstGeom prst="rect">
            <a:avLst/>
          </a:prstGeom>
          <a:noFill/>
          <a:ln/>
        </p:spPr>
        <p:txBody>
          <a:bodyPr wrap="none" lIns="0" tIns="0" rIns="0" bIns="0" rtlCol="0" anchor="t"/>
          <a:lstStyle/>
          <a:p>
            <a:pPr>
              <a:lnSpc>
                <a:spcPts val="3250"/>
              </a:lnSpc>
            </a:pPr>
            <a:r>
              <a:rPr lang="en-US" sz="2500" b="1" dirty="0">
                <a:solidFill>
                  <a:srgbClr val="000000"/>
                </a:solidFill>
                <a:latin typeface="Times New Roman" panose="02020603050405020304" pitchFamily="18" charset="0"/>
                <a:ea typeface="Inter Bold" pitchFamily="34" charset="-122"/>
                <a:cs typeface="Times New Roman" panose="02020603050405020304" pitchFamily="18" charset="0"/>
              </a:rPr>
              <a:t>Insights from Foundational Research &amp; Identified Gaps</a:t>
            </a:r>
            <a:endParaRPr lang="en-US" sz="2500" dirty="0">
              <a:latin typeface="Times New Roman" panose="02020603050405020304" pitchFamily="18" charset="0"/>
              <a:cs typeface="Times New Roman" panose="02020603050405020304" pitchFamily="18" charset="0"/>
            </a:endParaRPr>
          </a:p>
        </p:txBody>
      </p:sp>
      <p:sp>
        <p:nvSpPr>
          <p:cNvPr id="3" name="Text 1"/>
          <p:cNvSpPr/>
          <p:nvPr/>
        </p:nvSpPr>
        <p:spPr>
          <a:xfrm>
            <a:off x="1502370" y="1377057"/>
            <a:ext cx="9158585" cy="666056"/>
          </a:xfrm>
          <a:prstGeom prst="rect">
            <a:avLst/>
          </a:prstGeom>
          <a:noFill/>
          <a:ln/>
        </p:spPr>
        <p:txBody>
          <a:bodyPr wrap="square" lIns="0" tIns="0" rIns="0" bIns="0" rtlCol="0" anchor="t"/>
          <a:lstStyle/>
          <a:p>
            <a:r>
              <a:rPr lang="en-US" sz="1600" dirty="0">
                <a:latin typeface="Times New Roman" pitchFamily="18" charset="0"/>
                <a:cs typeface="Times New Roman" pitchFamily="18" charset="0"/>
              </a:rPr>
              <a:t>Our methodology is based on the AI-powered predictive and reinforcement learning framework proposed for cost-effective and SLA-compliant cloud operations. The paper demonstrates how supervised learning and reinforcement learning can proactively optimize cloud resource allocation while balancing SLA adherence and operational cost.</a:t>
            </a:r>
          </a:p>
        </p:txBody>
      </p:sp>
      <p:sp>
        <p:nvSpPr>
          <p:cNvPr id="4" name="Text 2"/>
          <p:cNvSpPr/>
          <p:nvPr/>
        </p:nvSpPr>
        <p:spPr>
          <a:xfrm>
            <a:off x="1516658" y="2287785"/>
            <a:ext cx="3806329" cy="331887"/>
          </a:xfrm>
          <a:prstGeom prst="rect">
            <a:avLst/>
          </a:prstGeom>
          <a:noFill/>
          <a:ln/>
        </p:spPr>
        <p:txBody>
          <a:bodyPr wrap="none" lIns="0" tIns="0" rIns="0" bIns="0" rtlCol="0" anchor="t"/>
          <a:lstStyle/>
          <a:p>
            <a:pPr>
              <a:lnSpc>
                <a:spcPts val="2583"/>
              </a:lnSpc>
            </a:pPr>
            <a:r>
              <a:rPr lang="en-US" sz="1900" b="1" dirty="0">
                <a:solidFill>
                  <a:srgbClr val="000000"/>
                </a:solidFill>
                <a:latin typeface="Times New Roman" panose="02020603050405020304" pitchFamily="18" charset="0"/>
                <a:ea typeface="Inter Bold" pitchFamily="34" charset="-122"/>
                <a:cs typeface="Times New Roman" panose="02020603050405020304" pitchFamily="18" charset="0"/>
              </a:rPr>
              <a:t>Key Research Gaps Identified</a:t>
            </a:r>
            <a:endParaRPr lang="en-US" sz="1900" dirty="0">
              <a:latin typeface="Times New Roman" panose="02020603050405020304" pitchFamily="18" charset="0"/>
              <a:cs typeface="Times New Roman" panose="02020603050405020304" pitchFamily="18" charset="0"/>
            </a:endParaRPr>
          </a:p>
        </p:txBody>
      </p:sp>
      <p:sp>
        <p:nvSpPr>
          <p:cNvPr id="5" name="Shape 3"/>
          <p:cNvSpPr/>
          <p:nvPr/>
        </p:nvSpPr>
        <p:spPr>
          <a:xfrm>
            <a:off x="1516658" y="2716609"/>
            <a:ext cx="4532709" cy="398165"/>
          </a:xfrm>
          <a:prstGeom prst="roundRect">
            <a:avLst>
              <a:gd name="adj" fmla="val 480045"/>
            </a:avLst>
          </a:prstGeom>
          <a:solidFill>
            <a:srgbClr val="DADBF1"/>
          </a:solidFill>
          <a:ln w="7620">
            <a:solidFill>
              <a:srgbClr val="C0C1D7"/>
            </a:solidFill>
            <a:prstDash val="solid"/>
          </a:ln>
        </p:spPr>
        <p:txBody>
          <a:bodyPr/>
          <a:lstStyle/>
          <a:p>
            <a:endParaRPr lang="en-IN"/>
          </a:p>
        </p:txBody>
      </p:sp>
      <p:sp>
        <p:nvSpPr>
          <p:cNvPr id="6" name="Text 4"/>
          <p:cNvSpPr/>
          <p:nvPr/>
        </p:nvSpPr>
        <p:spPr>
          <a:xfrm>
            <a:off x="3683494" y="2827153"/>
            <a:ext cx="199033" cy="248841"/>
          </a:xfrm>
          <a:prstGeom prst="rect">
            <a:avLst/>
          </a:prstGeom>
          <a:noFill/>
          <a:ln/>
        </p:spPr>
        <p:txBody>
          <a:bodyPr wrap="none" lIns="0" tIns="0" rIns="0" bIns="0" rtlCol="0" anchor="t"/>
          <a:lstStyle/>
          <a:p>
            <a:pPr>
              <a:lnSpc>
                <a:spcPts val="1542"/>
              </a:lnSpc>
            </a:pPr>
            <a:r>
              <a:rPr lang="en-US" sz="1542" b="1" dirty="0">
                <a:solidFill>
                  <a:srgbClr val="272525"/>
                </a:solidFill>
                <a:latin typeface="Inter Bold" pitchFamily="34" charset="0"/>
                <a:ea typeface="Inter Bold" pitchFamily="34" charset="-122"/>
                <a:cs typeface="Inter Bold" pitchFamily="34" charset="-120"/>
              </a:rPr>
              <a:t>1</a:t>
            </a:r>
            <a:endParaRPr lang="en-US" sz="1542" dirty="0"/>
          </a:p>
        </p:txBody>
      </p:sp>
      <p:sp>
        <p:nvSpPr>
          <p:cNvPr id="7" name="Text 5"/>
          <p:cNvSpPr/>
          <p:nvPr/>
        </p:nvSpPr>
        <p:spPr>
          <a:xfrm>
            <a:off x="1649313" y="3296445"/>
            <a:ext cx="1905694" cy="207368"/>
          </a:xfrm>
          <a:prstGeom prst="rect">
            <a:avLst/>
          </a:prstGeom>
          <a:noFill/>
          <a:ln/>
        </p:spPr>
        <p:txBody>
          <a:bodyPr wrap="none" lIns="0" tIns="0" rIns="0" bIns="0" rtlCol="0" anchor="t"/>
          <a:lstStyle/>
          <a:p>
            <a:pPr>
              <a:lnSpc>
                <a:spcPts val="1625"/>
              </a:lnSpc>
            </a:pPr>
            <a:r>
              <a:rPr lang="en-US" sz="2000" b="1" dirty="0">
                <a:latin typeface="Times New Roman" pitchFamily="18" charset="0"/>
                <a:cs typeface="Times New Roman" pitchFamily="18" charset="0"/>
              </a:rPr>
              <a:t>Limited Unified Framework</a:t>
            </a:r>
            <a:endParaRPr lang="en-US" sz="1900" b="1" dirty="0">
              <a:latin typeface="Times New Roman" pitchFamily="18" charset="0"/>
              <a:ea typeface="Tahoma" panose="020B0604030504040204" pitchFamily="34" charset="0"/>
              <a:cs typeface="Times New Roman" pitchFamily="18" charset="0"/>
            </a:endParaRPr>
          </a:p>
        </p:txBody>
      </p:sp>
      <p:sp>
        <p:nvSpPr>
          <p:cNvPr id="8" name="Text 6"/>
          <p:cNvSpPr/>
          <p:nvPr/>
        </p:nvSpPr>
        <p:spPr>
          <a:xfrm>
            <a:off x="1649312" y="3613957"/>
            <a:ext cx="4267399" cy="712373"/>
          </a:xfrm>
          <a:prstGeom prst="rect">
            <a:avLst/>
          </a:prstGeom>
          <a:noFill/>
          <a:ln/>
        </p:spPr>
        <p:txBody>
          <a:bodyPr wrap="square" lIns="0" tIns="0" rIns="0" bIns="0" rtlCol="0" anchor="t"/>
          <a:lstStyle/>
          <a:p>
            <a:r>
              <a:rPr lang="en-US" sz="1600" dirty="0">
                <a:latin typeface="Times New Roman" pitchFamily="18" charset="0"/>
                <a:cs typeface="Times New Roman" pitchFamily="18" charset="0"/>
              </a:rPr>
              <a:t>Base paper discusses predictive modeling and reinforcement learning separately.</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Integrated a unified Prediction + Optimization + LP framework.</a:t>
            </a:r>
            <a:endParaRPr lang="en-US" sz="1500" dirty="0">
              <a:latin typeface="Times New Roman" pitchFamily="18" charset="0"/>
              <a:cs typeface="Times New Roman" pitchFamily="18" charset="0"/>
            </a:endParaRPr>
          </a:p>
        </p:txBody>
      </p:sp>
      <p:sp>
        <p:nvSpPr>
          <p:cNvPr id="9" name="Shape 7"/>
          <p:cNvSpPr/>
          <p:nvPr/>
        </p:nvSpPr>
        <p:spPr>
          <a:xfrm>
            <a:off x="6142534" y="2716609"/>
            <a:ext cx="4532709" cy="398165"/>
          </a:xfrm>
          <a:prstGeom prst="roundRect">
            <a:avLst>
              <a:gd name="adj" fmla="val 480045"/>
            </a:avLst>
          </a:prstGeom>
          <a:solidFill>
            <a:srgbClr val="DADBF1"/>
          </a:solidFill>
          <a:ln w="7620">
            <a:solidFill>
              <a:srgbClr val="C0C1D7"/>
            </a:solidFill>
            <a:prstDash val="solid"/>
          </a:ln>
        </p:spPr>
        <p:txBody>
          <a:bodyPr/>
          <a:lstStyle/>
          <a:p>
            <a:endParaRPr lang="en-IN"/>
          </a:p>
        </p:txBody>
      </p:sp>
      <p:sp>
        <p:nvSpPr>
          <p:cNvPr id="10" name="Text 8"/>
          <p:cNvSpPr/>
          <p:nvPr/>
        </p:nvSpPr>
        <p:spPr>
          <a:xfrm>
            <a:off x="8309371" y="2830222"/>
            <a:ext cx="199033" cy="248841"/>
          </a:xfrm>
          <a:prstGeom prst="rect">
            <a:avLst/>
          </a:prstGeom>
          <a:noFill/>
          <a:ln/>
        </p:spPr>
        <p:txBody>
          <a:bodyPr wrap="none" lIns="0" tIns="0" rIns="0" bIns="0" rtlCol="0" anchor="t"/>
          <a:lstStyle/>
          <a:p>
            <a:pPr>
              <a:lnSpc>
                <a:spcPts val="1542"/>
              </a:lnSpc>
            </a:pPr>
            <a:r>
              <a:rPr lang="en-US" sz="1542" b="1" dirty="0">
                <a:solidFill>
                  <a:srgbClr val="272525"/>
                </a:solidFill>
                <a:latin typeface="Inter Bold" pitchFamily="34" charset="0"/>
                <a:ea typeface="Inter Bold" pitchFamily="34" charset="-122"/>
                <a:cs typeface="Inter Bold" pitchFamily="34" charset="-120"/>
              </a:rPr>
              <a:t>2</a:t>
            </a:r>
            <a:endParaRPr lang="en-US" sz="1542" dirty="0"/>
          </a:p>
        </p:txBody>
      </p:sp>
      <p:sp>
        <p:nvSpPr>
          <p:cNvPr id="11" name="Text 9"/>
          <p:cNvSpPr/>
          <p:nvPr/>
        </p:nvSpPr>
        <p:spPr>
          <a:xfrm>
            <a:off x="6407845" y="3294693"/>
            <a:ext cx="2381845" cy="207368"/>
          </a:xfrm>
          <a:prstGeom prst="rect">
            <a:avLst/>
          </a:prstGeom>
          <a:noFill/>
          <a:ln/>
        </p:spPr>
        <p:txBody>
          <a:bodyPr wrap="none" lIns="0" tIns="0" rIns="0" bIns="0" rtlCol="0" anchor="t"/>
          <a:lstStyle/>
          <a:p>
            <a:pPr>
              <a:lnSpc>
                <a:spcPts val="1625"/>
              </a:lnSpc>
            </a:pPr>
            <a:r>
              <a:rPr lang="en-US" sz="2000" b="1" dirty="0">
                <a:latin typeface="Times New Roman" pitchFamily="18" charset="0"/>
                <a:cs typeface="Times New Roman" pitchFamily="18" charset="0"/>
              </a:rPr>
              <a:t>Limited Multi-Objective Optimization</a:t>
            </a:r>
            <a:br>
              <a:rPr lang="en-US" sz="2000" dirty="0">
                <a:latin typeface="Times New Roman" pitchFamily="18" charset="0"/>
                <a:cs typeface="Times New Roman" pitchFamily="18" charset="0"/>
              </a:rPr>
            </a:br>
            <a:endParaRPr lang="en-US" sz="1900" b="1" dirty="0">
              <a:latin typeface="Times New Roman" pitchFamily="18" charset="0"/>
              <a:cs typeface="Times New Roman" pitchFamily="18" charset="0"/>
            </a:endParaRPr>
          </a:p>
        </p:txBody>
      </p:sp>
      <p:sp>
        <p:nvSpPr>
          <p:cNvPr id="12" name="Text 10"/>
          <p:cNvSpPr/>
          <p:nvPr/>
        </p:nvSpPr>
        <p:spPr>
          <a:xfrm>
            <a:off x="6407844" y="3613958"/>
            <a:ext cx="4532709" cy="710014"/>
          </a:xfrm>
          <a:prstGeom prst="rect">
            <a:avLst/>
          </a:prstGeom>
          <a:noFill/>
          <a:ln/>
        </p:spPr>
        <p:txBody>
          <a:bodyPr wrap="square" lIns="0" tIns="0" rIns="0" bIns="0" rtlCol="0" anchor="t"/>
          <a:lstStyle/>
          <a:p>
            <a:r>
              <a:rPr lang="en-US" sz="1600" dirty="0">
                <a:latin typeface="Times New Roman" pitchFamily="18" charset="0"/>
                <a:cs typeface="Times New Roman" pitchFamily="18" charset="0"/>
              </a:rPr>
              <a:t>Base paper emphasizes SLA compliance and cost but lacks deep trade-off modeling.</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Incorporated joint SLA, cost, and energy-aware optimization.</a:t>
            </a:r>
            <a:endParaRPr lang="en-US" sz="1500" dirty="0">
              <a:latin typeface="Times New Roman" pitchFamily="18" charset="0"/>
              <a:cs typeface="Times New Roman" pitchFamily="18" charset="0"/>
            </a:endParaRPr>
          </a:p>
        </p:txBody>
      </p:sp>
      <p:sp>
        <p:nvSpPr>
          <p:cNvPr id="13" name="Shape 11"/>
          <p:cNvSpPr/>
          <p:nvPr/>
        </p:nvSpPr>
        <p:spPr>
          <a:xfrm>
            <a:off x="1488082" y="4593727"/>
            <a:ext cx="4532709" cy="398165"/>
          </a:xfrm>
          <a:prstGeom prst="roundRect">
            <a:avLst>
              <a:gd name="adj" fmla="val 480045"/>
            </a:avLst>
          </a:prstGeom>
          <a:solidFill>
            <a:srgbClr val="DADBF1"/>
          </a:solidFill>
          <a:ln w="7620">
            <a:solidFill>
              <a:srgbClr val="C0C1D7"/>
            </a:solidFill>
            <a:prstDash val="solid"/>
          </a:ln>
        </p:spPr>
        <p:txBody>
          <a:bodyPr/>
          <a:lstStyle/>
          <a:p>
            <a:endParaRPr lang="en-IN"/>
          </a:p>
        </p:txBody>
      </p:sp>
      <p:sp>
        <p:nvSpPr>
          <p:cNvPr id="14" name="Text 12"/>
          <p:cNvSpPr/>
          <p:nvPr/>
        </p:nvSpPr>
        <p:spPr>
          <a:xfrm>
            <a:off x="3783011" y="4637484"/>
            <a:ext cx="199033" cy="248841"/>
          </a:xfrm>
          <a:prstGeom prst="rect">
            <a:avLst/>
          </a:prstGeom>
          <a:noFill/>
          <a:ln/>
        </p:spPr>
        <p:txBody>
          <a:bodyPr wrap="none" lIns="0" tIns="0" rIns="0" bIns="0" rtlCol="0" anchor="t"/>
          <a:lstStyle/>
          <a:p>
            <a:pPr>
              <a:lnSpc>
                <a:spcPts val="1542"/>
              </a:lnSpc>
            </a:pPr>
            <a:r>
              <a:rPr lang="en-US" sz="1542" b="1" dirty="0">
                <a:solidFill>
                  <a:srgbClr val="272525"/>
                </a:solidFill>
                <a:latin typeface="Inter Bold" pitchFamily="34" charset="0"/>
                <a:ea typeface="Inter Bold" pitchFamily="34" charset="-122"/>
                <a:cs typeface="Inter Bold" pitchFamily="34" charset="-120"/>
              </a:rPr>
              <a:t>3</a:t>
            </a:r>
            <a:endParaRPr lang="en-US" sz="1542" dirty="0"/>
          </a:p>
        </p:txBody>
      </p:sp>
      <p:sp>
        <p:nvSpPr>
          <p:cNvPr id="15" name="Text 13"/>
          <p:cNvSpPr/>
          <p:nvPr/>
        </p:nvSpPr>
        <p:spPr>
          <a:xfrm>
            <a:off x="1649313" y="5087838"/>
            <a:ext cx="3129515" cy="170043"/>
          </a:xfrm>
          <a:prstGeom prst="rect">
            <a:avLst/>
          </a:prstGeom>
          <a:noFill/>
          <a:ln/>
        </p:spPr>
        <p:txBody>
          <a:bodyPr wrap="none" lIns="0" tIns="0" rIns="0" bIns="0" rtlCol="0" anchor="t"/>
          <a:lstStyle/>
          <a:p>
            <a:pPr>
              <a:lnSpc>
                <a:spcPts val="1625"/>
              </a:lnSpc>
            </a:pPr>
            <a:r>
              <a:rPr lang="en-US" sz="2000" b="1" dirty="0">
                <a:latin typeface="Times New Roman" pitchFamily="18" charset="0"/>
                <a:cs typeface="Times New Roman" pitchFamily="18" charset="0"/>
              </a:rPr>
              <a:t>Scalability Concerns</a:t>
            </a:r>
            <a:br>
              <a:rPr lang="en-US" sz="2000" dirty="0">
                <a:latin typeface="Times New Roman" pitchFamily="18" charset="0"/>
                <a:cs typeface="Times New Roman" pitchFamily="18" charset="0"/>
              </a:rPr>
            </a:br>
            <a:endParaRPr lang="en-US" sz="1900" b="1" dirty="0">
              <a:latin typeface="Times New Roman" pitchFamily="18" charset="0"/>
              <a:cs typeface="Times New Roman" pitchFamily="18" charset="0"/>
            </a:endParaRPr>
          </a:p>
        </p:txBody>
      </p:sp>
      <p:sp>
        <p:nvSpPr>
          <p:cNvPr id="16" name="Text 14"/>
          <p:cNvSpPr/>
          <p:nvPr/>
        </p:nvSpPr>
        <p:spPr>
          <a:xfrm>
            <a:off x="1649313" y="5406726"/>
            <a:ext cx="4267398" cy="542330"/>
          </a:xfrm>
          <a:prstGeom prst="rect">
            <a:avLst/>
          </a:prstGeom>
          <a:noFill/>
          <a:ln/>
        </p:spPr>
        <p:txBody>
          <a:bodyPr wrap="square" lIns="0" tIns="0" rIns="0" bIns="0" rtlCol="0" anchor="t"/>
          <a:lstStyle/>
          <a:p>
            <a:r>
              <a:rPr lang="en-US" sz="1600" dirty="0">
                <a:latin typeface="Times New Roman" pitchFamily="18" charset="0"/>
                <a:cs typeface="Times New Roman" pitchFamily="18" charset="0"/>
              </a:rPr>
              <a:t>AI models may face computational overhead in large-scale cloud systems.</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Designed lightweight and efficient model integration for real-time scaling.</a:t>
            </a:r>
            <a:endParaRPr lang="en-US" sz="1500" dirty="0">
              <a:latin typeface="Times New Roman" pitchFamily="18" charset="0"/>
              <a:cs typeface="Times New Roman" pitchFamily="18" charset="0"/>
            </a:endParaRPr>
          </a:p>
        </p:txBody>
      </p:sp>
      <p:sp>
        <p:nvSpPr>
          <p:cNvPr id="17" name="Shape 15"/>
          <p:cNvSpPr/>
          <p:nvPr/>
        </p:nvSpPr>
        <p:spPr>
          <a:xfrm>
            <a:off x="6303763" y="4573885"/>
            <a:ext cx="4532709" cy="398165"/>
          </a:xfrm>
          <a:prstGeom prst="roundRect">
            <a:avLst>
              <a:gd name="adj" fmla="val 480045"/>
            </a:avLst>
          </a:prstGeom>
          <a:solidFill>
            <a:srgbClr val="DADBF1"/>
          </a:solidFill>
          <a:ln w="7620">
            <a:solidFill>
              <a:srgbClr val="C0C1D7"/>
            </a:solidFill>
            <a:prstDash val="solid"/>
          </a:ln>
        </p:spPr>
        <p:txBody>
          <a:bodyPr/>
          <a:lstStyle/>
          <a:p>
            <a:endParaRPr lang="en-IN"/>
          </a:p>
        </p:txBody>
      </p:sp>
      <p:sp>
        <p:nvSpPr>
          <p:cNvPr id="18" name="Text 16"/>
          <p:cNvSpPr/>
          <p:nvPr/>
        </p:nvSpPr>
        <p:spPr>
          <a:xfrm>
            <a:off x="8342510" y="4657326"/>
            <a:ext cx="199033" cy="248841"/>
          </a:xfrm>
          <a:prstGeom prst="rect">
            <a:avLst/>
          </a:prstGeom>
          <a:noFill/>
          <a:ln/>
        </p:spPr>
        <p:txBody>
          <a:bodyPr wrap="none" lIns="0" tIns="0" rIns="0" bIns="0" rtlCol="0" anchor="t"/>
          <a:lstStyle/>
          <a:p>
            <a:pPr>
              <a:lnSpc>
                <a:spcPts val="1542"/>
              </a:lnSpc>
            </a:pPr>
            <a:r>
              <a:rPr lang="en-US" sz="1542" b="1" dirty="0">
                <a:solidFill>
                  <a:srgbClr val="272525"/>
                </a:solidFill>
                <a:latin typeface="Inter Bold" pitchFamily="34" charset="0"/>
                <a:ea typeface="Inter Bold" pitchFamily="34" charset="-122"/>
                <a:cs typeface="Inter Bold" pitchFamily="34" charset="-120"/>
              </a:rPr>
              <a:t>4</a:t>
            </a:r>
            <a:endParaRPr lang="en-US" sz="1542" dirty="0"/>
          </a:p>
        </p:txBody>
      </p:sp>
      <p:sp>
        <p:nvSpPr>
          <p:cNvPr id="19" name="Text 17"/>
          <p:cNvSpPr/>
          <p:nvPr/>
        </p:nvSpPr>
        <p:spPr>
          <a:xfrm>
            <a:off x="6407845" y="5050513"/>
            <a:ext cx="1795363" cy="207368"/>
          </a:xfrm>
          <a:prstGeom prst="rect">
            <a:avLst/>
          </a:prstGeom>
          <a:noFill/>
          <a:ln/>
        </p:spPr>
        <p:txBody>
          <a:bodyPr wrap="none" lIns="0" tIns="0" rIns="0" bIns="0" rtlCol="0" anchor="t"/>
          <a:lstStyle/>
          <a:p>
            <a:pPr>
              <a:lnSpc>
                <a:spcPts val="1625"/>
              </a:lnSpc>
            </a:pPr>
            <a:r>
              <a:rPr lang="en-US" sz="2000" b="1" dirty="0">
                <a:latin typeface="Times New Roman" pitchFamily="18" charset="0"/>
                <a:cs typeface="Times New Roman" pitchFamily="18" charset="0"/>
              </a:rPr>
              <a:t>Limited Interpretability</a:t>
            </a:r>
            <a:br>
              <a:rPr lang="en-US" sz="2000" dirty="0">
                <a:latin typeface="Times New Roman" pitchFamily="18" charset="0"/>
                <a:cs typeface="Times New Roman" pitchFamily="18" charset="0"/>
              </a:rPr>
            </a:br>
            <a:endParaRPr lang="en-US" sz="1900" b="1" dirty="0">
              <a:latin typeface="Times New Roman" pitchFamily="18" charset="0"/>
              <a:cs typeface="Times New Roman" pitchFamily="18" charset="0"/>
            </a:endParaRPr>
          </a:p>
        </p:txBody>
      </p:sp>
      <p:sp>
        <p:nvSpPr>
          <p:cNvPr id="20" name="Text 18"/>
          <p:cNvSpPr/>
          <p:nvPr/>
        </p:nvSpPr>
        <p:spPr>
          <a:xfrm>
            <a:off x="6386611" y="5366910"/>
            <a:ext cx="4553941" cy="723106"/>
          </a:xfrm>
          <a:prstGeom prst="rect">
            <a:avLst/>
          </a:prstGeom>
          <a:noFill/>
          <a:ln/>
        </p:spPr>
        <p:txBody>
          <a:bodyPr wrap="square" lIns="0" tIns="0" rIns="0" bIns="0" rtlCol="0" anchor="t"/>
          <a:lstStyle/>
          <a:p>
            <a:r>
              <a:rPr lang="en-US" sz="1600" dirty="0">
                <a:latin typeface="Times New Roman" pitchFamily="18" charset="0"/>
                <a:cs typeface="Times New Roman" pitchFamily="18" charset="0"/>
              </a:rPr>
              <a:t>Base paper focuses on performance improvement rather </a:t>
            </a:r>
            <a:r>
              <a:rPr lang="en-US" sz="1600">
                <a:latin typeface="Times New Roman" pitchFamily="18" charset="0"/>
                <a:cs typeface="Times New Roman" pitchFamily="18" charset="0"/>
              </a:rPr>
              <a:t>than explainabilityof </a:t>
            </a:r>
            <a:r>
              <a:rPr lang="en-US" sz="1600" dirty="0">
                <a:latin typeface="Times New Roman" pitchFamily="18" charset="0"/>
                <a:cs typeface="Times New Roman" pitchFamily="18" charset="0"/>
              </a:rPr>
              <a:t>decisions.</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Introduced transparent decision logic and evaluation metrics for trust.</a:t>
            </a:r>
            <a:endParaRPr lang="en-US" sz="1500" dirty="0">
              <a:latin typeface="Times New Roman" pitchFamily="18" charset="0"/>
              <a:cs typeface="Times New Roman" pitchFamily="18" charset="0"/>
            </a:endParaRPr>
          </a:p>
        </p:txBody>
      </p:sp>
      <p:sp>
        <p:nvSpPr>
          <p:cNvPr id="21" name="Rectangle 20">
            <a:extLst>
              <a:ext uri="{FF2B5EF4-FFF2-40B4-BE49-F238E27FC236}">
                <a16:creationId xmlns:a16="http://schemas.microsoft.com/office/drawing/2014/main" id="{AD5CB84E-7DB2-51D6-E5A5-6472EA3D4827}"/>
              </a:ext>
            </a:extLst>
          </p:cNvPr>
          <p:cNvSpPr/>
          <p:nvPr/>
        </p:nvSpPr>
        <p:spPr>
          <a:xfrm>
            <a:off x="10718132" y="6446921"/>
            <a:ext cx="1383632" cy="3024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D4B91F7-A44D-6C1C-9874-00EDD4F960EE}"/>
              </a:ext>
            </a:extLst>
          </p:cNvPr>
          <p:cNvSpPr/>
          <p:nvPr/>
        </p:nvSpPr>
        <p:spPr>
          <a:xfrm>
            <a:off x="291378" y="0"/>
            <a:ext cx="3638365" cy="590649"/>
          </a:xfrm>
          <a:prstGeom prst="rect">
            <a:avLst/>
          </a:prstGeom>
          <a:noFill/>
          <a:ln/>
        </p:spPr>
        <p:txBody>
          <a:bodyPr wrap="none" lIns="0" tIns="0" rIns="0" bIns="0" rtlCol="0" anchor="t"/>
          <a:lstStyle/>
          <a:p>
            <a:pPr>
              <a:lnSpc>
                <a:spcPts val="4625"/>
              </a:lnSpc>
            </a:pPr>
            <a:r>
              <a:rPr lang="en-US" sz="3708" b="1" dirty="0">
                <a:solidFill>
                  <a:srgbClr val="000000"/>
                </a:solidFill>
                <a:latin typeface="Inter Bold" pitchFamily="34" charset="0"/>
                <a:ea typeface="Inter Bold" pitchFamily="34" charset="-122"/>
                <a:cs typeface="Inter Bold" pitchFamily="34" charset="-120"/>
              </a:rPr>
              <a:t>Literature Review:</a:t>
            </a:r>
            <a:endParaRPr lang="en-US" sz="3708" dirty="0"/>
          </a:p>
        </p:txBody>
      </p:sp>
      <p:sp>
        <p:nvSpPr>
          <p:cNvPr id="5" name="TextBox 4"/>
          <p:cNvSpPr txBox="1"/>
          <p:nvPr/>
        </p:nvSpPr>
        <p:spPr>
          <a:xfrm>
            <a:off x="618972" y="1486822"/>
            <a:ext cx="11513088" cy="4093428"/>
          </a:xfrm>
          <a:prstGeom prst="rect">
            <a:avLst/>
          </a:prstGeom>
          <a:noFill/>
        </p:spPr>
        <p:txBody>
          <a:bodyPr wrap="none" rtlCol="0">
            <a:spAutoFit/>
          </a:bodyPr>
          <a:lstStyle/>
          <a:p>
            <a:pPr marL="457200" indent="-457200">
              <a:buFont typeface="+mj-lt"/>
              <a:buAutoNum type="arabicPeriod"/>
            </a:pPr>
            <a:r>
              <a:rPr lang="en-US" sz="2000" dirty="0">
                <a:latin typeface="Times New Roman" pitchFamily="18" charset="0"/>
                <a:cs typeface="Times New Roman" pitchFamily="18" charset="0"/>
              </a:rPr>
              <a:t>From [1] 2024 IEEE study:</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Deep Reinforcement Learning improves adaptive scaling but lacks mathematical optimization integration.</a:t>
            </a:r>
          </a:p>
          <a:p>
            <a:pPr marL="457200" indent="-457200">
              <a:buFont typeface="+mj-lt"/>
              <a:buAutoNum type="arabicPeriod"/>
            </a:pPr>
            <a:r>
              <a:rPr lang="en-US" sz="2000" dirty="0">
                <a:latin typeface="Times New Roman" pitchFamily="18" charset="0"/>
                <a:cs typeface="Times New Roman" pitchFamily="18" charset="0"/>
              </a:rPr>
              <a:t>From [2] Predictive Autoscaling (2023–2024):</a:t>
            </a:r>
            <a:br>
              <a:rPr lang="en-US" sz="2000" dirty="0">
                <a:latin typeface="Times New Roman" pitchFamily="18" charset="0"/>
                <a:cs typeface="Times New Roman" pitchFamily="18" charset="0"/>
              </a:rPr>
            </a:br>
            <a:r>
              <a:rPr lang="en-US" sz="2000" dirty="0" err="1">
                <a:latin typeface="Times New Roman" pitchFamily="18" charset="0"/>
                <a:cs typeface="Times New Roman" pitchFamily="18" charset="0"/>
              </a:rPr>
              <a:t>XGRegressor</a:t>
            </a:r>
            <a:r>
              <a:rPr lang="en-US" sz="2000" dirty="0">
                <a:latin typeface="Times New Roman" pitchFamily="18" charset="0"/>
                <a:cs typeface="Times New Roman" pitchFamily="18" charset="0"/>
              </a:rPr>
              <a:t>-based workload forecasting reduces latency but does not optimize cost constraints formally.</a:t>
            </a:r>
          </a:p>
          <a:p>
            <a:pPr marL="457200" indent="-457200">
              <a:buFont typeface="+mj-lt"/>
              <a:buAutoNum type="arabicPeriod"/>
            </a:pPr>
            <a:r>
              <a:rPr lang="en-US" sz="2000" dirty="0">
                <a:latin typeface="Times New Roman" pitchFamily="18" charset="0"/>
                <a:cs typeface="Times New Roman" pitchFamily="18" charset="0"/>
              </a:rPr>
              <a:t>From [3] Energy-Aware Cloud Scheduling (2024):</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Green scheduling reduces power usage but ignores SLA-performance trade-offs.</a:t>
            </a:r>
          </a:p>
          <a:p>
            <a:r>
              <a:rPr lang="en-US" sz="2000" b="1" dirty="0">
                <a:latin typeface="Times New Roman" pitchFamily="18" charset="0"/>
                <a:cs typeface="Times New Roman" pitchFamily="18" charset="0"/>
              </a:rPr>
              <a:t>Research Gap Identified</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t>
            </a:r>
            <a:r>
              <a:rPr lang="en-US" sz="2000" dirty="0"/>
              <a:t>→ Need for an integrated Prediction + Optimization + RL architecture.</a:t>
            </a:r>
          </a:p>
          <a:p>
            <a:r>
              <a:rPr lang="en-US" sz="2000" dirty="0"/>
              <a:t>    → Need for joint optimization of SLA, cost, and energy efficiency.</a:t>
            </a:r>
          </a:p>
          <a:p>
            <a:r>
              <a:rPr lang="en-US" sz="2000" dirty="0"/>
              <a:t>    → Need lightweight, low-latency models for real-time deployment.</a:t>
            </a:r>
          </a:p>
          <a:p>
            <a:r>
              <a:rPr lang="en-US" sz="2000" dirty="0"/>
              <a:t>    → Need explainable and trustworthy cloud resource allocation mechanisms.</a:t>
            </a:r>
          </a:p>
          <a:p>
            <a:endParaRPr lang="en-US" sz="2000" dirty="0"/>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644857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08965" y="1875697"/>
            <a:ext cx="4725492" cy="590649"/>
          </a:xfrm>
          <a:prstGeom prst="rect">
            <a:avLst/>
          </a:prstGeom>
          <a:noFill/>
          <a:ln/>
        </p:spPr>
        <p:txBody>
          <a:bodyPr wrap="none" lIns="0" tIns="0" rIns="0" bIns="0" rtlCol="0" anchor="t"/>
          <a:lstStyle/>
          <a:p>
            <a:pPr>
              <a:lnSpc>
                <a:spcPts val="4625"/>
              </a:lnSpc>
            </a:pPr>
            <a:r>
              <a:rPr lang="en-US" sz="3900" b="1" dirty="0">
                <a:solidFill>
                  <a:srgbClr val="000000"/>
                </a:solidFill>
                <a:latin typeface="Times New Roman" panose="02020603050405020304" pitchFamily="18" charset="0"/>
                <a:ea typeface="Inter Bold" pitchFamily="34" charset="-122"/>
                <a:cs typeface="Times New Roman" panose="02020603050405020304" pitchFamily="18" charset="0"/>
              </a:rPr>
              <a:t>Problem Statement</a:t>
            </a:r>
            <a:endParaRPr lang="en-US" sz="3900" dirty="0">
              <a:latin typeface="Times New Roman" panose="02020603050405020304" pitchFamily="18" charset="0"/>
              <a:cs typeface="Times New Roman" panose="02020603050405020304" pitchFamily="18" charset="0"/>
            </a:endParaRPr>
          </a:p>
        </p:txBody>
      </p:sp>
      <p:sp>
        <p:nvSpPr>
          <p:cNvPr id="3" name="Text 1"/>
          <p:cNvSpPr/>
          <p:nvPr/>
        </p:nvSpPr>
        <p:spPr>
          <a:xfrm>
            <a:off x="661492" y="2033885"/>
            <a:ext cx="2362696" cy="295275"/>
          </a:xfrm>
          <a:prstGeom prst="rect">
            <a:avLst/>
          </a:prstGeom>
          <a:noFill/>
          <a:ln/>
        </p:spPr>
        <p:txBody>
          <a:bodyPr wrap="none" lIns="0" tIns="0" rIns="0" bIns="0" rtlCol="0" anchor="t"/>
          <a:lstStyle/>
          <a:p>
            <a:pPr>
              <a:lnSpc>
                <a:spcPts val="2292"/>
              </a:lnSpc>
            </a:pPr>
            <a:endParaRPr lang="en-US" sz="1833" dirty="0"/>
          </a:p>
        </p:txBody>
      </p:sp>
      <p:sp>
        <p:nvSpPr>
          <p:cNvPr id="4" name="Text 2"/>
          <p:cNvSpPr/>
          <p:nvPr/>
        </p:nvSpPr>
        <p:spPr>
          <a:xfrm>
            <a:off x="661492" y="2612629"/>
            <a:ext cx="10869018" cy="302419"/>
          </a:xfrm>
          <a:prstGeom prst="rect">
            <a:avLst/>
          </a:prstGeom>
          <a:noFill/>
          <a:ln/>
        </p:spPr>
        <p:txBody>
          <a:bodyPr wrap="none" lIns="0" tIns="0" rIns="0" bIns="0" rtlCol="0" anchor="t"/>
          <a:lstStyle/>
          <a:p>
            <a:pPr>
              <a:lnSpc>
                <a:spcPts val="2375"/>
              </a:lnSpc>
            </a:pPr>
            <a:endParaRPr lang="en-US" sz="1458" dirty="0"/>
          </a:p>
        </p:txBody>
      </p:sp>
      <p:sp>
        <p:nvSpPr>
          <p:cNvPr id="5" name="Text 3"/>
          <p:cNvSpPr/>
          <p:nvPr/>
        </p:nvSpPr>
        <p:spPr>
          <a:xfrm>
            <a:off x="661492" y="3127673"/>
            <a:ext cx="10869018" cy="302419"/>
          </a:xfrm>
          <a:prstGeom prst="rect">
            <a:avLst/>
          </a:prstGeom>
          <a:noFill/>
          <a:ln/>
        </p:spPr>
        <p:txBody>
          <a:bodyPr wrap="none" lIns="0" tIns="0" rIns="0" bIns="0" rtlCol="0" anchor="t"/>
          <a:lstStyle/>
          <a:p>
            <a:pPr>
              <a:lnSpc>
                <a:spcPts val="2375"/>
              </a:lnSpc>
            </a:pPr>
            <a:endParaRPr lang="en-US" sz="1458" dirty="0"/>
          </a:p>
        </p:txBody>
      </p:sp>
      <p:sp>
        <p:nvSpPr>
          <p:cNvPr id="6" name="Text 4"/>
          <p:cNvSpPr/>
          <p:nvPr/>
        </p:nvSpPr>
        <p:spPr>
          <a:xfrm>
            <a:off x="1120087" y="3051082"/>
            <a:ext cx="10585549" cy="907257"/>
          </a:xfrm>
          <a:prstGeom prst="rect">
            <a:avLst/>
          </a:prstGeom>
          <a:noFill/>
          <a:ln/>
        </p:spPr>
        <p:txBody>
          <a:bodyPr wrap="square" lIns="0" tIns="0" rIns="0" bIns="0" rtlCol="0" anchor="t"/>
          <a:lstStyle/>
          <a:p>
            <a:pPr algn="just">
              <a:lnSpc>
                <a:spcPts val="2375"/>
              </a:lnSpc>
            </a:pPr>
            <a:r>
              <a:rPr lang="en-US" sz="2000" dirty="0">
                <a:latin typeface="Times New Roman" pitchFamily="18" charset="0"/>
                <a:cs typeface="Times New Roman" pitchFamily="18" charset="0"/>
              </a:rPr>
              <a:t>The project aims to design an intelligent and adaptive AI-driven cloud resource allocation framework that optimizes cost and ensures SLA compliance while eliminating the inefficiencies of traditional rule-based and reactive scaling mechanisms through predictive modeling and reinforcement learning techniques.</a:t>
            </a:r>
          </a:p>
        </p:txBody>
      </p:sp>
      <p:sp>
        <p:nvSpPr>
          <p:cNvPr id="7" name="Shape 5"/>
          <p:cNvSpPr/>
          <p:nvPr/>
        </p:nvSpPr>
        <p:spPr>
          <a:xfrm>
            <a:off x="878089" y="2915048"/>
            <a:ext cx="25400" cy="1332508"/>
          </a:xfrm>
          <a:prstGeom prst="rect">
            <a:avLst/>
          </a:prstGeom>
          <a:solidFill>
            <a:srgbClr val="4950BC"/>
          </a:solidFill>
          <a:ln/>
        </p:spPr>
        <p:txBody>
          <a:bodyPr/>
          <a:lstStyle/>
          <a:p>
            <a:endParaRPr lang="en-IN"/>
          </a:p>
        </p:txBody>
      </p:sp>
      <p:sp>
        <p:nvSpPr>
          <p:cNvPr id="9" name="Rectangle 8">
            <a:extLst>
              <a:ext uri="{FF2B5EF4-FFF2-40B4-BE49-F238E27FC236}">
                <a16:creationId xmlns:a16="http://schemas.microsoft.com/office/drawing/2014/main" id="{CD1A09F6-9D59-ABE1-4B23-147E1ABE650E}"/>
              </a:ext>
            </a:extLst>
          </p:cNvPr>
          <p:cNvSpPr/>
          <p:nvPr/>
        </p:nvSpPr>
        <p:spPr>
          <a:xfrm>
            <a:off x="10718132" y="6446921"/>
            <a:ext cx="1383632" cy="3024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C9016-38E8-8684-1990-F785456591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3A701E-EDD3-3B83-A2EC-0DBD7B72CB06}"/>
              </a:ext>
            </a:extLst>
          </p:cNvPr>
          <p:cNvSpPr/>
          <p:nvPr/>
        </p:nvSpPr>
        <p:spPr>
          <a:xfrm>
            <a:off x="4590211" y="1006243"/>
            <a:ext cx="3011578" cy="590649"/>
          </a:xfrm>
          <a:prstGeom prst="rect">
            <a:avLst/>
          </a:prstGeom>
          <a:noFill/>
          <a:ln/>
        </p:spPr>
        <p:txBody>
          <a:bodyPr wrap="none" lIns="0" tIns="0" rIns="0" bIns="0" rtlCol="0" anchor="t"/>
          <a:lstStyle/>
          <a:p>
            <a:pPr>
              <a:lnSpc>
                <a:spcPts val="4625"/>
              </a:lnSpc>
            </a:pPr>
            <a:r>
              <a:rPr lang="en-US" sz="3900" b="1" dirty="0">
                <a:solidFill>
                  <a:srgbClr val="000000"/>
                </a:solidFill>
                <a:latin typeface="Times New Roman" panose="02020603050405020304" pitchFamily="18" charset="0"/>
                <a:ea typeface="Inter Bold" pitchFamily="34" charset="-122"/>
                <a:cs typeface="Times New Roman" panose="02020603050405020304" pitchFamily="18" charset="0"/>
              </a:rPr>
              <a:t>Introduction</a:t>
            </a:r>
            <a:endParaRPr lang="en-US" sz="39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0899D437-8170-8DF7-8EF2-08515E88D174}"/>
              </a:ext>
            </a:extLst>
          </p:cNvPr>
          <p:cNvSpPr/>
          <p:nvPr/>
        </p:nvSpPr>
        <p:spPr>
          <a:xfrm>
            <a:off x="661492" y="2033885"/>
            <a:ext cx="2362696" cy="295275"/>
          </a:xfrm>
          <a:prstGeom prst="rect">
            <a:avLst/>
          </a:prstGeom>
          <a:noFill/>
          <a:ln/>
        </p:spPr>
        <p:txBody>
          <a:bodyPr wrap="none" lIns="0" tIns="0" rIns="0" bIns="0" rtlCol="0" anchor="t"/>
          <a:lstStyle/>
          <a:p>
            <a:pPr>
              <a:lnSpc>
                <a:spcPts val="2292"/>
              </a:lnSpc>
            </a:pPr>
            <a:endParaRPr lang="en-US" sz="1833" dirty="0"/>
          </a:p>
        </p:txBody>
      </p:sp>
      <p:sp>
        <p:nvSpPr>
          <p:cNvPr id="4" name="Text 2">
            <a:extLst>
              <a:ext uri="{FF2B5EF4-FFF2-40B4-BE49-F238E27FC236}">
                <a16:creationId xmlns:a16="http://schemas.microsoft.com/office/drawing/2014/main" id="{9402AE6D-F239-87A5-C108-BEBEAED6D09B}"/>
              </a:ext>
            </a:extLst>
          </p:cNvPr>
          <p:cNvSpPr/>
          <p:nvPr/>
        </p:nvSpPr>
        <p:spPr>
          <a:xfrm>
            <a:off x="661492" y="2612629"/>
            <a:ext cx="10869018" cy="302419"/>
          </a:xfrm>
          <a:prstGeom prst="rect">
            <a:avLst/>
          </a:prstGeom>
          <a:noFill/>
          <a:ln/>
        </p:spPr>
        <p:txBody>
          <a:bodyPr wrap="none" lIns="0" tIns="0" rIns="0" bIns="0" rtlCol="0" anchor="t"/>
          <a:lstStyle/>
          <a:p>
            <a:pPr>
              <a:lnSpc>
                <a:spcPts val="2375"/>
              </a:lnSpc>
            </a:pPr>
            <a:endParaRPr lang="en-US" sz="1458" dirty="0"/>
          </a:p>
        </p:txBody>
      </p:sp>
      <p:sp>
        <p:nvSpPr>
          <p:cNvPr id="5" name="Text 3">
            <a:extLst>
              <a:ext uri="{FF2B5EF4-FFF2-40B4-BE49-F238E27FC236}">
                <a16:creationId xmlns:a16="http://schemas.microsoft.com/office/drawing/2014/main" id="{D86A5093-F46C-A12B-BEA5-F2BD3AE8ABAD}"/>
              </a:ext>
            </a:extLst>
          </p:cNvPr>
          <p:cNvSpPr/>
          <p:nvPr/>
        </p:nvSpPr>
        <p:spPr>
          <a:xfrm>
            <a:off x="661492" y="3127673"/>
            <a:ext cx="10869018" cy="302419"/>
          </a:xfrm>
          <a:prstGeom prst="rect">
            <a:avLst/>
          </a:prstGeom>
          <a:noFill/>
          <a:ln/>
        </p:spPr>
        <p:txBody>
          <a:bodyPr wrap="none" lIns="0" tIns="0" rIns="0" bIns="0" rtlCol="0" anchor="t"/>
          <a:lstStyle/>
          <a:p>
            <a:pPr>
              <a:lnSpc>
                <a:spcPts val="2375"/>
              </a:lnSpc>
            </a:pPr>
            <a:endParaRPr lang="en-US" sz="1458" dirty="0"/>
          </a:p>
        </p:txBody>
      </p:sp>
      <p:sp>
        <p:nvSpPr>
          <p:cNvPr id="6" name="Text 4">
            <a:extLst>
              <a:ext uri="{FF2B5EF4-FFF2-40B4-BE49-F238E27FC236}">
                <a16:creationId xmlns:a16="http://schemas.microsoft.com/office/drawing/2014/main" id="{4565A32E-B7ED-882A-140C-8D1A1EB07BBF}"/>
              </a:ext>
            </a:extLst>
          </p:cNvPr>
          <p:cNvSpPr/>
          <p:nvPr/>
        </p:nvSpPr>
        <p:spPr>
          <a:xfrm>
            <a:off x="1690491" y="4700588"/>
            <a:ext cx="9516895" cy="906237"/>
          </a:xfrm>
          <a:prstGeom prst="rect">
            <a:avLst/>
          </a:prstGeom>
          <a:noFill/>
          <a:ln/>
        </p:spPr>
        <p:txBody>
          <a:bodyPr wrap="square" lIns="0" tIns="0" rIns="0" bIns="0" rtlCol="0" anchor="t"/>
          <a:lstStyle/>
          <a:p>
            <a:pPr algn="just">
              <a:lnSpc>
                <a:spcPts val="2375"/>
              </a:lnSpc>
            </a:pPr>
            <a:r>
              <a:rPr lang="en-US" sz="1600" dirty="0">
                <a:latin typeface="Times New Roman" pitchFamily="18" charset="0"/>
                <a:cs typeface="Times New Roman" pitchFamily="18" charset="0"/>
              </a:rPr>
              <a:t>Our project addresses this critical challenge by introducing an advanced AI-driven cloud resource allocation framework that proactively predicts workload demand, optimizes resource distribution, and ensures cost-effective, SLA-compliant cloud operations.</a:t>
            </a:r>
          </a:p>
        </p:txBody>
      </p:sp>
      <p:sp>
        <p:nvSpPr>
          <p:cNvPr id="7" name="Shape 5">
            <a:extLst>
              <a:ext uri="{FF2B5EF4-FFF2-40B4-BE49-F238E27FC236}">
                <a16:creationId xmlns:a16="http://schemas.microsoft.com/office/drawing/2014/main" id="{E3712F68-8CA6-B38A-8DB8-00773666EB11}"/>
              </a:ext>
            </a:extLst>
          </p:cNvPr>
          <p:cNvSpPr/>
          <p:nvPr/>
        </p:nvSpPr>
        <p:spPr>
          <a:xfrm flipH="1">
            <a:off x="1534065" y="4800173"/>
            <a:ext cx="45719" cy="907258"/>
          </a:xfrm>
          <a:prstGeom prst="rect">
            <a:avLst/>
          </a:prstGeom>
          <a:solidFill>
            <a:srgbClr val="4950BC"/>
          </a:solidFill>
          <a:ln/>
        </p:spPr>
        <p:txBody>
          <a:bodyPr/>
          <a:lstStyle/>
          <a:p>
            <a:endParaRPr lang="en-IN"/>
          </a:p>
        </p:txBody>
      </p:sp>
      <p:sp>
        <p:nvSpPr>
          <p:cNvPr id="9" name="Rectangle 8">
            <a:extLst>
              <a:ext uri="{FF2B5EF4-FFF2-40B4-BE49-F238E27FC236}">
                <a16:creationId xmlns:a16="http://schemas.microsoft.com/office/drawing/2014/main" id="{DF1E61B7-C3FE-E742-18C1-23CD2624A825}"/>
              </a:ext>
            </a:extLst>
          </p:cNvPr>
          <p:cNvSpPr/>
          <p:nvPr/>
        </p:nvSpPr>
        <p:spPr>
          <a:xfrm>
            <a:off x="10718132" y="6446921"/>
            <a:ext cx="1383632" cy="3024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8" name="TextBox 7">
            <a:extLst>
              <a:ext uri="{FF2B5EF4-FFF2-40B4-BE49-F238E27FC236}">
                <a16:creationId xmlns:a16="http://schemas.microsoft.com/office/drawing/2014/main" id="{757C8941-FB89-9087-1048-94DEE930FA96}"/>
              </a:ext>
            </a:extLst>
          </p:cNvPr>
          <p:cNvSpPr txBox="1"/>
          <p:nvPr/>
        </p:nvSpPr>
        <p:spPr>
          <a:xfrm>
            <a:off x="1571212" y="1786783"/>
            <a:ext cx="9736186" cy="2585323"/>
          </a:xfrm>
          <a:prstGeom prst="rect">
            <a:avLst/>
          </a:prstGeom>
          <a:noFill/>
        </p:spPr>
        <p:txBody>
          <a:bodyPr wrap="square" rtlCol="0">
            <a:spAutoFit/>
          </a:bodyPr>
          <a:lstStyle/>
          <a:p>
            <a:r>
              <a:rPr lang="en-US" dirty="0">
                <a:latin typeface="Times New Roman" pitchFamily="18" charset="0"/>
                <a:cs typeface="Times New Roman" pitchFamily="18" charset="0"/>
              </a:rPr>
              <a:t>Cloud computing has become the backbone of modern enterprise applications, delivering scalable and on-demand services across diverse industries. However, cloud environments face highly dynamic and unpredictable workloads, which often lead to resource over-provisioning, SLA violations, and increased operational costs. Traditional resource management approaches rely on static thresholds and reactive scaling policies that are inefficient in handling real-time fluctuations in demand.</a:t>
            </a:r>
          </a:p>
          <a:p>
            <a:r>
              <a:rPr lang="en-US" dirty="0">
                <a:latin typeface="Times New Roman" pitchFamily="18" charset="0"/>
                <a:cs typeface="Times New Roman" pitchFamily="18" charset="0"/>
              </a:rPr>
              <a:t>Recent advances in Artificial Intelligence, particularly predictive modeling and reinforcement learning, have enabled intelligent and adaptive resource allocation strategies in cloud systems. Despite achieving improvements in SLA compliance and cost efficiency, many existing AI-based models lack unified optimization frameworks and transparent decision-making mechanisms.</a:t>
            </a:r>
          </a:p>
        </p:txBody>
      </p:sp>
    </p:spTree>
    <p:extLst>
      <p:ext uri="{BB962C8B-B14F-4D97-AF65-F5344CB8AC3E}">
        <p14:creationId xmlns:p14="http://schemas.microsoft.com/office/powerpoint/2010/main" val="2086244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DDA68A-8BC9-0678-2C4D-A185B9590897}"/>
              </a:ext>
            </a:extLst>
          </p:cNvPr>
          <p:cNvSpPr txBox="1"/>
          <p:nvPr/>
        </p:nvSpPr>
        <p:spPr>
          <a:xfrm>
            <a:off x="3572868" y="592732"/>
            <a:ext cx="6096000" cy="682238"/>
          </a:xfrm>
          <a:prstGeom prst="rect">
            <a:avLst/>
          </a:prstGeom>
          <a:noFill/>
        </p:spPr>
        <p:txBody>
          <a:bodyPr wrap="square">
            <a:spAutoFit/>
          </a:bodyPr>
          <a:lstStyle/>
          <a:p>
            <a:pPr>
              <a:lnSpc>
                <a:spcPts val="4625"/>
              </a:lnSpc>
            </a:pPr>
            <a:r>
              <a:rPr lang="en-US" sz="3900" b="1" dirty="0">
                <a:solidFill>
                  <a:srgbClr val="000000"/>
                </a:solidFill>
                <a:latin typeface="Times New Roman" panose="02020603050405020304" pitchFamily="18" charset="0"/>
                <a:ea typeface="Inter Bold" pitchFamily="34" charset="-122"/>
                <a:cs typeface="Times New Roman" panose="02020603050405020304" pitchFamily="18" charset="0"/>
              </a:rPr>
              <a:t>Scope of the Project</a:t>
            </a:r>
            <a:endParaRPr lang="en-US" sz="39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CEB1E6E-C9D0-EBEF-9874-5EDF08BF02BC}"/>
              </a:ext>
            </a:extLst>
          </p:cNvPr>
          <p:cNvSpPr txBox="1"/>
          <p:nvPr/>
        </p:nvSpPr>
        <p:spPr>
          <a:xfrm>
            <a:off x="661492" y="1436353"/>
            <a:ext cx="10779394" cy="690382"/>
          </a:xfrm>
          <a:prstGeom prst="rect">
            <a:avLst/>
          </a:prstGeom>
          <a:noFill/>
        </p:spPr>
        <p:txBody>
          <a:bodyPr wrap="square">
            <a:spAutoFit/>
          </a:bodyPr>
          <a:lstStyle/>
          <a:p>
            <a:pPr algn="just">
              <a:lnSpc>
                <a:spcPts val="2375"/>
              </a:lnSpc>
            </a:pPr>
            <a:r>
              <a:rPr lang="en-US" sz="1600" dirty="0">
                <a:latin typeface="Times New Roman" pitchFamily="18" charset="0"/>
                <a:cs typeface="Times New Roman" pitchFamily="18" charset="0"/>
              </a:rPr>
              <a:t>This project focuses on the development of an AI-driven intelligent cloud resource allocation framework specifically designed to optimize cost and ensure SLA compliance in dynamic cloud environments.</a:t>
            </a:r>
          </a:p>
        </p:txBody>
      </p:sp>
      <p:sp>
        <p:nvSpPr>
          <p:cNvPr id="6" name="Shape 3">
            <a:extLst>
              <a:ext uri="{FF2B5EF4-FFF2-40B4-BE49-F238E27FC236}">
                <a16:creationId xmlns:a16="http://schemas.microsoft.com/office/drawing/2014/main" id="{827152BE-4CA7-F4B0-6344-BD5EE4850845}"/>
              </a:ext>
            </a:extLst>
          </p:cNvPr>
          <p:cNvSpPr/>
          <p:nvPr/>
        </p:nvSpPr>
        <p:spPr>
          <a:xfrm>
            <a:off x="661492" y="2249969"/>
            <a:ext cx="5339953" cy="1744762"/>
          </a:xfrm>
          <a:prstGeom prst="roundRect">
            <a:avLst>
              <a:gd name="adj" fmla="val 4550"/>
            </a:avLst>
          </a:prstGeom>
          <a:solidFill>
            <a:srgbClr val="FFFFFF"/>
          </a:solidFill>
          <a:ln w="30480">
            <a:solidFill>
              <a:srgbClr val="C0C1D7"/>
            </a:solidFill>
            <a:prstDash val="solid"/>
          </a:ln>
        </p:spPr>
        <p:txBody>
          <a:bodyPr/>
          <a:lstStyle/>
          <a:p>
            <a:endParaRPr lang="en-IN"/>
          </a:p>
        </p:txBody>
      </p:sp>
      <p:sp>
        <p:nvSpPr>
          <p:cNvPr id="8" name="Shape 6">
            <a:extLst>
              <a:ext uri="{FF2B5EF4-FFF2-40B4-BE49-F238E27FC236}">
                <a16:creationId xmlns:a16="http://schemas.microsoft.com/office/drawing/2014/main" id="{D40222A4-841C-D00D-81B5-90494677EAB0}"/>
              </a:ext>
            </a:extLst>
          </p:cNvPr>
          <p:cNvSpPr/>
          <p:nvPr/>
        </p:nvSpPr>
        <p:spPr>
          <a:xfrm>
            <a:off x="6190455" y="2246595"/>
            <a:ext cx="5340053" cy="1744762"/>
          </a:xfrm>
          <a:prstGeom prst="roundRect">
            <a:avLst>
              <a:gd name="adj" fmla="val 4550"/>
            </a:avLst>
          </a:prstGeom>
          <a:solidFill>
            <a:srgbClr val="FFFFFF"/>
          </a:solidFill>
          <a:ln w="30480">
            <a:solidFill>
              <a:srgbClr val="C0C1D7"/>
            </a:solidFill>
            <a:prstDash val="solid"/>
          </a:ln>
        </p:spPr>
        <p:txBody>
          <a:bodyPr/>
          <a:lstStyle/>
          <a:p>
            <a:endParaRPr lang="en-IN" dirty="0"/>
          </a:p>
        </p:txBody>
      </p:sp>
      <p:sp>
        <p:nvSpPr>
          <p:cNvPr id="9" name="Shape 9">
            <a:extLst>
              <a:ext uri="{FF2B5EF4-FFF2-40B4-BE49-F238E27FC236}">
                <a16:creationId xmlns:a16="http://schemas.microsoft.com/office/drawing/2014/main" id="{FD942973-9351-7344-13CE-7F86C565ED2A}"/>
              </a:ext>
            </a:extLst>
          </p:cNvPr>
          <p:cNvSpPr/>
          <p:nvPr/>
        </p:nvSpPr>
        <p:spPr>
          <a:xfrm>
            <a:off x="661492" y="4218087"/>
            <a:ext cx="5339953" cy="2047181"/>
          </a:xfrm>
          <a:prstGeom prst="roundRect">
            <a:avLst>
              <a:gd name="adj" fmla="val 3878"/>
            </a:avLst>
          </a:prstGeom>
          <a:solidFill>
            <a:srgbClr val="FFFFFF"/>
          </a:solidFill>
          <a:ln w="30480">
            <a:solidFill>
              <a:srgbClr val="C0C1D7"/>
            </a:solidFill>
            <a:prstDash val="solid"/>
          </a:ln>
        </p:spPr>
        <p:txBody>
          <a:bodyPr/>
          <a:lstStyle/>
          <a:p>
            <a:endParaRPr lang="en-IN"/>
          </a:p>
        </p:txBody>
      </p:sp>
      <p:sp>
        <p:nvSpPr>
          <p:cNvPr id="10" name="Shape 12">
            <a:extLst>
              <a:ext uri="{FF2B5EF4-FFF2-40B4-BE49-F238E27FC236}">
                <a16:creationId xmlns:a16="http://schemas.microsoft.com/office/drawing/2014/main" id="{7B71A70D-2070-1F9B-9A84-16FDCCCE28D6}"/>
              </a:ext>
            </a:extLst>
          </p:cNvPr>
          <p:cNvSpPr/>
          <p:nvPr/>
        </p:nvSpPr>
        <p:spPr>
          <a:xfrm>
            <a:off x="6190457" y="4218087"/>
            <a:ext cx="5340053" cy="2047181"/>
          </a:xfrm>
          <a:prstGeom prst="roundRect">
            <a:avLst>
              <a:gd name="adj" fmla="val 3878"/>
            </a:avLst>
          </a:prstGeom>
          <a:solidFill>
            <a:srgbClr val="FFFFFF"/>
          </a:solidFill>
          <a:ln w="30480">
            <a:solidFill>
              <a:srgbClr val="C0C1D7"/>
            </a:solidFill>
            <a:prstDash val="solid"/>
          </a:ln>
        </p:spPr>
        <p:txBody>
          <a:bodyPr/>
          <a:lstStyle/>
          <a:p>
            <a:endParaRPr lang="en-IN"/>
          </a:p>
        </p:txBody>
      </p:sp>
      <p:sp>
        <p:nvSpPr>
          <p:cNvPr id="11" name="Text 4">
            <a:extLst>
              <a:ext uri="{FF2B5EF4-FFF2-40B4-BE49-F238E27FC236}">
                <a16:creationId xmlns:a16="http://schemas.microsoft.com/office/drawing/2014/main" id="{CF132B35-BDC5-1479-FE31-F9DF992C9911}"/>
              </a:ext>
            </a:extLst>
          </p:cNvPr>
          <p:cNvSpPr/>
          <p:nvPr/>
        </p:nvSpPr>
        <p:spPr>
          <a:xfrm>
            <a:off x="875903" y="2454554"/>
            <a:ext cx="3730625" cy="295275"/>
          </a:xfrm>
          <a:prstGeom prst="rect">
            <a:avLst/>
          </a:prstGeom>
          <a:noFill/>
          <a:ln/>
        </p:spPr>
        <p:txBody>
          <a:bodyPr wrap="none" lIns="0" tIns="0" rIns="0" bIns="0" rtlCol="0" anchor="t"/>
          <a:lstStyle/>
          <a:p>
            <a:pPr>
              <a:lnSpc>
                <a:spcPts val="2292"/>
              </a:lnSpc>
            </a:pPr>
            <a:r>
              <a:rPr lang="en-US" sz="2000" b="1" dirty="0">
                <a:latin typeface="Times New Roman" pitchFamily="18" charset="0"/>
                <a:cs typeface="Times New Roman" pitchFamily="18" charset="0"/>
              </a:rPr>
              <a:t>Predictive Workload Forecasting</a:t>
            </a:r>
            <a:br>
              <a:rPr lang="en-US" sz="2000" dirty="0">
                <a:latin typeface="Times New Roman" pitchFamily="18" charset="0"/>
                <a:cs typeface="Times New Roman" pitchFamily="18" charset="0"/>
              </a:rPr>
            </a:br>
            <a:endParaRPr lang="en-US" sz="1900" b="1" dirty="0">
              <a:latin typeface="Times New Roman" pitchFamily="18" charset="0"/>
              <a:cs typeface="Times New Roman" pitchFamily="18" charset="0"/>
            </a:endParaRPr>
          </a:p>
        </p:txBody>
      </p:sp>
      <p:sp>
        <p:nvSpPr>
          <p:cNvPr id="12" name="Text 5">
            <a:extLst>
              <a:ext uri="{FF2B5EF4-FFF2-40B4-BE49-F238E27FC236}">
                <a16:creationId xmlns:a16="http://schemas.microsoft.com/office/drawing/2014/main" id="{75778038-CFA0-25F1-4DFA-6D545EB37520}"/>
              </a:ext>
            </a:extLst>
          </p:cNvPr>
          <p:cNvSpPr/>
          <p:nvPr/>
        </p:nvSpPr>
        <p:spPr>
          <a:xfrm>
            <a:off x="875902" y="2828898"/>
            <a:ext cx="4911130" cy="907257"/>
          </a:xfrm>
          <a:prstGeom prst="rect">
            <a:avLst/>
          </a:prstGeom>
          <a:noFill/>
          <a:ln/>
        </p:spPr>
        <p:txBody>
          <a:bodyPr wrap="square" lIns="0" tIns="0" rIns="0" bIns="0" rtlCol="0" anchor="t"/>
          <a:lstStyle/>
          <a:p>
            <a:pPr algn="just"/>
            <a:r>
              <a:rPr lang="en-US" sz="1600" dirty="0">
                <a:latin typeface="Times New Roman" pitchFamily="18" charset="0"/>
                <a:cs typeface="Times New Roman" pitchFamily="18" charset="0"/>
              </a:rPr>
              <a:t>The system implements time-series forecasting models (such as GRU/</a:t>
            </a:r>
            <a:r>
              <a:rPr lang="en-US" sz="1600" dirty="0" err="1">
                <a:latin typeface="Times New Roman" pitchFamily="18" charset="0"/>
                <a:cs typeface="Times New Roman" pitchFamily="18" charset="0"/>
              </a:rPr>
              <a:t>XGBoost</a:t>
            </a:r>
            <a:r>
              <a:rPr lang="en-US" sz="1600" dirty="0">
                <a:latin typeface="Times New Roman" pitchFamily="18" charset="0"/>
                <a:cs typeface="Times New Roman" pitchFamily="18" charset="0"/>
              </a:rPr>
              <a:t>) to anticipate future workload demand and enable proactive resource scaling.</a:t>
            </a:r>
          </a:p>
        </p:txBody>
      </p:sp>
      <p:sp>
        <p:nvSpPr>
          <p:cNvPr id="13" name="Text 7">
            <a:extLst>
              <a:ext uri="{FF2B5EF4-FFF2-40B4-BE49-F238E27FC236}">
                <a16:creationId xmlns:a16="http://schemas.microsoft.com/office/drawing/2014/main" id="{8409D885-9303-C4F2-F701-56F82821F91D}"/>
              </a:ext>
            </a:extLst>
          </p:cNvPr>
          <p:cNvSpPr/>
          <p:nvPr/>
        </p:nvSpPr>
        <p:spPr>
          <a:xfrm>
            <a:off x="6404869" y="2462691"/>
            <a:ext cx="3854847" cy="295275"/>
          </a:xfrm>
          <a:prstGeom prst="rect">
            <a:avLst/>
          </a:prstGeom>
          <a:noFill/>
          <a:ln/>
        </p:spPr>
        <p:txBody>
          <a:bodyPr wrap="none" lIns="0" tIns="0" rIns="0" bIns="0" rtlCol="0" anchor="t"/>
          <a:lstStyle/>
          <a:p>
            <a:pPr>
              <a:lnSpc>
                <a:spcPts val="2292"/>
              </a:lnSpc>
            </a:pPr>
            <a:r>
              <a:rPr lang="en-US" sz="2000" b="1" dirty="0">
                <a:latin typeface="Times New Roman" pitchFamily="18" charset="0"/>
                <a:cs typeface="Times New Roman" pitchFamily="18" charset="0"/>
              </a:rPr>
              <a:t>Multi-Objective Resource Optimization</a:t>
            </a:r>
            <a:br>
              <a:rPr lang="en-US" sz="2000" dirty="0">
                <a:latin typeface="Times New Roman" pitchFamily="18" charset="0"/>
                <a:cs typeface="Times New Roman" pitchFamily="18" charset="0"/>
              </a:rPr>
            </a:br>
            <a:endParaRPr lang="en-US" sz="1900" b="1" dirty="0">
              <a:latin typeface="Times New Roman" pitchFamily="18" charset="0"/>
              <a:cs typeface="Times New Roman" pitchFamily="18" charset="0"/>
            </a:endParaRPr>
          </a:p>
        </p:txBody>
      </p:sp>
      <p:sp>
        <p:nvSpPr>
          <p:cNvPr id="14" name="Text 8">
            <a:extLst>
              <a:ext uri="{FF2B5EF4-FFF2-40B4-BE49-F238E27FC236}">
                <a16:creationId xmlns:a16="http://schemas.microsoft.com/office/drawing/2014/main" id="{C03F3071-1D55-A7D1-7283-7607E3729771}"/>
              </a:ext>
            </a:extLst>
          </p:cNvPr>
          <p:cNvSpPr/>
          <p:nvPr/>
        </p:nvSpPr>
        <p:spPr>
          <a:xfrm>
            <a:off x="6404869" y="2877826"/>
            <a:ext cx="4911229" cy="907257"/>
          </a:xfrm>
          <a:prstGeom prst="rect">
            <a:avLst/>
          </a:prstGeom>
          <a:noFill/>
          <a:ln/>
        </p:spPr>
        <p:txBody>
          <a:bodyPr wrap="square" lIns="0" tIns="0" rIns="0" bIns="0" rtlCol="0" anchor="t"/>
          <a:lstStyle/>
          <a:p>
            <a:pPr algn="just"/>
            <a:r>
              <a:rPr lang="en-US" sz="1600" dirty="0">
                <a:latin typeface="Times New Roman" pitchFamily="18" charset="0"/>
                <a:cs typeface="Times New Roman" pitchFamily="18" charset="0"/>
              </a:rPr>
              <a:t>The framework jointly optimizes SLA adherence, operational cost, and energy efficiency using AI-based decision strategies.</a:t>
            </a:r>
          </a:p>
        </p:txBody>
      </p:sp>
      <p:sp>
        <p:nvSpPr>
          <p:cNvPr id="15" name="Text 10">
            <a:extLst>
              <a:ext uri="{FF2B5EF4-FFF2-40B4-BE49-F238E27FC236}">
                <a16:creationId xmlns:a16="http://schemas.microsoft.com/office/drawing/2014/main" id="{1B014AA2-2D72-EFC3-1BF0-DC15CA6AF463}"/>
              </a:ext>
            </a:extLst>
          </p:cNvPr>
          <p:cNvSpPr/>
          <p:nvPr/>
        </p:nvSpPr>
        <p:spPr>
          <a:xfrm>
            <a:off x="718739" y="4553081"/>
            <a:ext cx="2946202" cy="295275"/>
          </a:xfrm>
          <a:prstGeom prst="rect">
            <a:avLst/>
          </a:prstGeom>
          <a:noFill/>
          <a:ln/>
        </p:spPr>
        <p:txBody>
          <a:bodyPr wrap="none" lIns="0" tIns="0" rIns="0" bIns="0" rtlCol="0" anchor="t"/>
          <a:lstStyle/>
          <a:p>
            <a:pPr>
              <a:lnSpc>
                <a:spcPts val="2292"/>
              </a:lnSpc>
            </a:pPr>
            <a:r>
              <a:rPr lang="en-US" sz="2000" b="1" dirty="0">
                <a:latin typeface="Times New Roman" pitchFamily="18" charset="0"/>
                <a:cs typeface="Times New Roman" pitchFamily="18" charset="0"/>
              </a:rPr>
              <a:t>Adaptive Reinforcement Learning-Based Scaling</a:t>
            </a:r>
            <a:br>
              <a:rPr lang="en-US" sz="2000" dirty="0">
                <a:latin typeface="Times New Roman" pitchFamily="18" charset="0"/>
                <a:cs typeface="Times New Roman" pitchFamily="18" charset="0"/>
              </a:rPr>
            </a:br>
            <a:endParaRPr lang="en-US" sz="1900" dirty="0">
              <a:latin typeface="Times New Roman" pitchFamily="18" charset="0"/>
              <a:cs typeface="Times New Roman" pitchFamily="18" charset="0"/>
            </a:endParaRPr>
          </a:p>
        </p:txBody>
      </p:sp>
      <p:sp>
        <p:nvSpPr>
          <p:cNvPr id="16" name="Text 11">
            <a:extLst>
              <a:ext uri="{FF2B5EF4-FFF2-40B4-BE49-F238E27FC236}">
                <a16:creationId xmlns:a16="http://schemas.microsoft.com/office/drawing/2014/main" id="{C94617D5-3F4C-935F-1242-E73A510E3B24}"/>
              </a:ext>
            </a:extLst>
          </p:cNvPr>
          <p:cNvSpPr/>
          <p:nvPr/>
        </p:nvSpPr>
        <p:spPr>
          <a:xfrm>
            <a:off x="875902" y="4986736"/>
            <a:ext cx="4911130" cy="869822"/>
          </a:xfrm>
          <a:prstGeom prst="rect">
            <a:avLst/>
          </a:prstGeom>
          <a:noFill/>
          <a:ln/>
        </p:spPr>
        <p:txBody>
          <a:bodyPr wrap="square" lIns="0" tIns="0" rIns="0" bIns="0" rtlCol="0" anchor="t"/>
          <a:lstStyle/>
          <a:p>
            <a:pPr algn="just"/>
            <a:r>
              <a:rPr lang="en-US" sz="1600" dirty="0">
                <a:latin typeface="Times New Roman" pitchFamily="18" charset="0"/>
                <a:cs typeface="Times New Roman" pitchFamily="18" charset="0"/>
              </a:rPr>
              <a:t>The model applies reinforcement learning to dynamically adjust scaling and placement decisions in response to real-time cloud states.</a:t>
            </a:r>
          </a:p>
        </p:txBody>
      </p:sp>
      <p:sp>
        <p:nvSpPr>
          <p:cNvPr id="17" name="Text 13">
            <a:extLst>
              <a:ext uri="{FF2B5EF4-FFF2-40B4-BE49-F238E27FC236}">
                <a16:creationId xmlns:a16="http://schemas.microsoft.com/office/drawing/2014/main" id="{A7B559DC-A3D9-C9E2-A33C-0D7D8AC7BAEC}"/>
              </a:ext>
            </a:extLst>
          </p:cNvPr>
          <p:cNvSpPr/>
          <p:nvPr/>
        </p:nvSpPr>
        <p:spPr>
          <a:xfrm>
            <a:off x="6404869" y="4478015"/>
            <a:ext cx="3263999" cy="295275"/>
          </a:xfrm>
          <a:prstGeom prst="rect">
            <a:avLst/>
          </a:prstGeom>
          <a:noFill/>
          <a:ln/>
        </p:spPr>
        <p:txBody>
          <a:bodyPr wrap="none" lIns="0" tIns="0" rIns="0" bIns="0" rtlCol="0" anchor="t"/>
          <a:lstStyle/>
          <a:p>
            <a:pPr>
              <a:lnSpc>
                <a:spcPts val="2292"/>
              </a:lnSpc>
            </a:pPr>
            <a:r>
              <a:rPr lang="en-US" sz="2000" b="1" dirty="0">
                <a:latin typeface="Times New Roman" pitchFamily="18" charset="0"/>
                <a:cs typeface="Times New Roman" pitchFamily="18" charset="0"/>
              </a:rPr>
              <a:t>Scalable Cloud Deployment</a:t>
            </a:r>
            <a:br>
              <a:rPr lang="en-US" sz="2000" dirty="0">
                <a:latin typeface="Times New Roman" pitchFamily="18" charset="0"/>
                <a:cs typeface="Times New Roman" pitchFamily="18" charset="0"/>
              </a:rPr>
            </a:br>
            <a:endParaRPr lang="en-US" sz="1900" b="1" dirty="0">
              <a:latin typeface="Times New Roman" pitchFamily="18" charset="0"/>
              <a:cs typeface="Times New Roman" pitchFamily="18" charset="0"/>
            </a:endParaRPr>
          </a:p>
        </p:txBody>
      </p:sp>
      <p:sp>
        <p:nvSpPr>
          <p:cNvPr id="18" name="Text 14">
            <a:extLst>
              <a:ext uri="{FF2B5EF4-FFF2-40B4-BE49-F238E27FC236}">
                <a16:creationId xmlns:a16="http://schemas.microsoft.com/office/drawing/2014/main" id="{79989BBA-1656-3162-785D-39C7B4FA9DD1}"/>
              </a:ext>
            </a:extLst>
          </p:cNvPr>
          <p:cNvSpPr/>
          <p:nvPr/>
        </p:nvSpPr>
        <p:spPr>
          <a:xfrm>
            <a:off x="6404869" y="4911019"/>
            <a:ext cx="4911229" cy="808505"/>
          </a:xfrm>
          <a:prstGeom prst="rect">
            <a:avLst/>
          </a:prstGeom>
          <a:noFill/>
          <a:ln/>
        </p:spPr>
        <p:txBody>
          <a:bodyPr wrap="square" lIns="0" tIns="0" rIns="0" bIns="0" rtlCol="0" anchor="t"/>
          <a:lstStyle/>
          <a:p>
            <a:r>
              <a:rPr lang="en-US" sz="1600" dirty="0">
                <a:latin typeface="Times New Roman" pitchFamily="18" charset="0"/>
                <a:cs typeface="Times New Roman" pitchFamily="18" charset="0"/>
              </a:rPr>
              <a:t>The solution is designed for multi-tenant, large-scale cloud infrastructures and supports real-time, low-latency decision-making.</a:t>
            </a:r>
          </a:p>
        </p:txBody>
      </p:sp>
    </p:spTree>
    <p:extLst>
      <p:ext uri="{BB962C8B-B14F-4D97-AF65-F5344CB8AC3E}">
        <p14:creationId xmlns:p14="http://schemas.microsoft.com/office/powerpoint/2010/main" val="2664352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95412" y="986433"/>
            <a:ext cx="7436148" cy="531614"/>
          </a:xfrm>
          <a:prstGeom prst="rect">
            <a:avLst/>
          </a:prstGeom>
          <a:noFill/>
          <a:ln/>
        </p:spPr>
        <p:txBody>
          <a:bodyPr wrap="none" lIns="0" tIns="0" rIns="0" bIns="0" rtlCol="0" anchor="t"/>
          <a:lstStyle/>
          <a:p>
            <a:pPr>
              <a:lnSpc>
                <a:spcPts val="4167"/>
              </a:lnSpc>
            </a:pPr>
            <a:r>
              <a:rPr lang="en-US" sz="3900" b="1" dirty="0">
                <a:solidFill>
                  <a:srgbClr val="000000"/>
                </a:solidFill>
                <a:latin typeface="Times New Roman" panose="02020603050405020304" pitchFamily="18" charset="0"/>
                <a:ea typeface="Inter Bold" pitchFamily="34" charset="-122"/>
                <a:cs typeface="Times New Roman" panose="02020603050405020304" pitchFamily="18" charset="0"/>
              </a:rPr>
              <a:t>Dataset Availability &amp; Collection</a:t>
            </a:r>
            <a:endParaRPr lang="en-US" sz="3900" dirty="0">
              <a:latin typeface="Times New Roman" panose="02020603050405020304" pitchFamily="18" charset="0"/>
              <a:cs typeface="Times New Roman" panose="02020603050405020304" pitchFamily="18" charset="0"/>
            </a:endParaRPr>
          </a:p>
        </p:txBody>
      </p:sp>
      <p:sp>
        <p:nvSpPr>
          <p:cNvPr id="5" name="Text 2"/>
          <p:cNvSpPr/>
          <p:nvPr/>
        </p:nvSpPr>
        <p:spPr>
          <a:xfrm>
            <a:off x="595412" y="1747639"/>
            <a:ext cx="11001177" cy="517128"/>
          </a:xfrm>
          <a:prstGeom prst="rect">
            <a:avLst/>
          </a:prstGeom>
          <a:noFill/>
          <a:ln/>
        </p:spPr>
        <p:txBody>
          <a:bodyPr wrap="square" lIns="0" tIns="0" rIns="0" bIns="0" rtlCol="0" anchor="t"/>
          <a:lstStyle/>
          <a:p>
            <a:pPr>
              <a:lnSpc>
                <a:spcPts val="2000"/>
              </a:lnSpc>
            </a:pPr>
            <a:endParaRPr lang="en-US" sz="1333" dirty="0"/>
          </a:p>
        </p:txBody>
      </p:sp>
      <p:sp>
        <p:nvSpPr>
          <p:cNvPr id="6" name="Shape 3"/>
          <p:cNvSpPr/>
          <p:nvPr/>
        </p:nvSpPr>
        <p:spPr>
          <a:xfrm>
            <a:off x="595411" y="2437011"/>
            <a:ext cx="3564930" cy="2028528"/>
          </a:xfrm>
          <a:prstGeom prst="roundRect">
            <a:avLst>
              <a:gd name="adj" fmla="val 3522"/>
            </a:avLst>
          </a:prstGeom>
          <a:solidFill>
            <a:srgbClr val="FFFFFF"/>
          </a:solidFill>
          <a:ln w="22860">
            <a:solidFill>
              <a:srgbClr val="C0C1D7"/>
            </a:solidFill>
            <a:prstDash val="solid"/>
          </a:ln>
        </p:spPr>
        <p:txBody>
          <a:bodyPr/>
          <a:lstStyle/>
          <a:p>
            <a:endParaRPr lang="en-IN"/>
          </a:p>
        </p:txBody>
      </p:sp>
      <p:sp>
        <p:nvSpPr>
          <p:cNvPr id="7" name="Text 4"/>
          <p:cNvSpPr/>
          <p:nvPr/>
        </p:nvSpPr>
        <p:spPr>
          <a:xfrm>
            <a:off x="784522" y="2626122"/>
            <a:ext cx="2126457" cy="265708"/>
          </a:xfrm>
          <a:prstGeom prst="rect">
            <a:avLst/>
          </a:prstGeom>
          <a:noFill/>
          <a:ln/>
        </p:spPr>
        <p:txBody>
          <a:bodyPr wrap="none" lIns="0" tIns="0" rIns="0" bIns="0" rtlCol="0" anchor="t"/>
          <a:lstStyle/>
          <a:p>
            <a:pPr>
              <a:lnSpc>
                <a:spcPts val="2083"/>
              </a:lnSpc>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Public Repositories</a:t>
            </a:r>
            <a:endParaRPr lang="en-US" sz="1900" dirty="0">
              <a:latin typeface="Times New Roman" panose="02020603050405020304" pitchFamily="18" charset="0"/>
              <a:cs typeface="Times New Roman" panose="02020603050405020304" pitchFamily="18" charset="0"/>
            </a:endParaRPr>
          </a:p>
        </p:txBody>
      </p:sp>
      <p:sp>
        <p:nvSpPr>
          <p:cNvPr id="8" name="Text 5"/>
          <p:cNvSpPr/>
          <p:nvPr/>
        </p:nvSpPr>
        <p:spPr>
          <a:xfrm>
            <a:off x="784522" y="2973295"/>
            <a:ext cx="3177878" cy="1292820"/>
          </a:xfrm>
          <a:prstGeom prst="rect">
            <a:avLst/>
          </a:prstGeom>
          <a:noFill/>
          <a:ln/>
        </p:spPr>
        <p:txBody>
          <a:bodyPr wrap="square" lIns="0" tIns="0" rIns="0" bIns="0" rtlCol="0" anchor="t"/>
          <a:lstStyle/>
          <a:p>
            <a:r>
              <a:rPr lang="en-US" sz="1500" dirty="0">
                <a:latin typeface="Times New Roman" pitchFamily="18" charset="0"/>
                <a:cs typeface="Times New Roman" pitchFamily="18" charset="0"/>
              </a:rPr>
              <a:t>• </a:t>
            </a:r>
            <a:r>
              <a:rPr lang="en-US" sz="1600" dirty="0">
                <a:latin typeface="Times New Roman" pitchFamily="18" charset="0"/>
                <a:cs typeface="Times New Roman" pitchFamily="18" charset="0"/>
              </a:rPr>
              <a:t>Google Cluster Workload Trace Dataset</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Alibaba Cluster Trace (public research dataset)</a:t>
            </a:r>
          </a:p>
        </p:txBody>
      </p:sp>
      <p:sp>
        <p:nvSpPr>
          <p:cNvPr id="9" name="Shape 6"/>
          <p:cNvSpPr/>
          <p:nvPr/>
        </p:nvSpPr>
        <p:spPr>
          <a:xfrm>
            <a:off x="4313436" y="2437011"/>
            <a:ext cx="3565029" cy="2028528"/>
          </a:xfrm>
          <a:prstGeom prst="roundRect">
            <a:avLst>
              <a:gd name="adj" fmla="val 3522"/>
            </a:avLst>
          </a:prstGeom>
          <a:solidFill>
            <a:srgbClr val="FFFFFF"/>
          </a:solidFill>
          <a:ln w="22860">
            <a:solidFill>
              <a:srgbClr val="C0C1D7"/>
            </a:solidFill>
            <a:prstDash val="solid"/>
          </a:ln>
        </p:spPr>
        <p:txBody>
          <a:bodyPr/>
          <a:lstStyle/>
          <a:p>
            <a:endParaRPr lang="en-IN"/>
          </a:p>
        </p:txBody>
      </p:sp>
      <p:sp>
        <p:nvSpPr>
          <p:cNvPr id="10" name="Text 7"/>
          <p:cNvSpPr/>
          <p:nvPr/>
        </p:nvSpPr>
        <p:spPr>
          <a:xfrm>
            <a:off x="4502547" y="2626122"/>
            <a:ext cx="2132807" cy="265708"/>
          </a:xfrm>
          <a:prstGeom prst="rect">
            <a:avLst/>
          </a:prstGeom>
          <a:noFill/>
          <a:ln/>
        </p:spPr>
        <p:txBody>
          <a:bodyPr wrap="none" lIns="0" tIns="0" rIns="0" bIns="0" rtlCol="0" anchor="t"/>
          <a:lstStyle/>
          <a:p>
            <a:pPr>
              <a:lnSpc>
                <a:spcPts val="2083"/>
              </a:lnSpc>
            </a:pPr>
            <a:r>
              <a:rPr lang="en-IN" sz="1900" b="1" dirty="0">
                <a:latin typeface="Times New Roman" panose="02020603050405020304" pitchFamily="18" charset="0"/>
                <a:cs typeface="Times New Roman" panose="02020603050405020304" pitchFamily="18" charset="0"/>
              </a:rPr>
              <a:t>Dataset Characteristics</a:t>
            </a:r>
            <a:endParaRPr lang="en-US" sz="1900" b="1" dirty="0">
              <a:latin typeface="Times New Roman" panose="02020603050405020304" pitchFamily="18" charset="0"/>
              <a:cs typeface="Times New Roman" panose="02020603050405020304" pitchFamily="18" charset="0"/>
            </a:endParaRPr>
          </a:p>
        </p:txBody>
      </p:sp>
      <p:sp>
        <p:nvSpPr>
          <p:cNvPr id="11" name="Text 8"/>
          <p:cNvSpPr/>
          <p:nvPr/>
        </p:nvSpPr>
        <p:spPr>
          <a:xfrm>
            <a:off x="4502547" y="2983607"/>
            <a:ext cx="3186807" cy="1292820"/>
          </a:xfrm>
          <a:prstGeom prst="rect">
            <a:avLst/>
          </a:prstGeom>
          <a:noFill/>
          <a:ln/>
        </p:spPr>
        <p:txBody>
          <a:bodyPr wrap="square" lIns="0" tIns="0" rIns="0" bIns="0" rtlCol="0" anchor="t"/>
          <a:lstStyle/>
          <a:p>
            <a:pPr>
              <a:buFont typeface="Arial" pitchFamily="34" charset="0"/>
              <a:buChar char="•"/>
            </a:pPr>
            <a:r>
              <a:rPr lang="en-US" sz="1600" dirty="0">
                <a:latin typeface="Times New Roman" pitchFamily="18" charset="0"/>
                <a:cs typeface="Times New Roman" pitchFamily="18" charset="0"/>
              </a:rPr>
              <a:t>Previous Time stamps</a:t>
            </a:r>
          </a:p>
          <a:p>
            <a:pPr>
              <a:buFont typeface="Arial" pitchFamily="34" charset="0"/>
              <a:buChar char="•"/>
            </a:pPr>
            <a:r>
              <a:rPr lang="en-US" sz="1600" dirty="0">
                <a:latin typeface="Times New Roman" pitchFamily="18" charset="0"/>
                <a:cs typeface="Times New Roman" pitchFamily="18" charset="0"/>
              </a:rPr>
              <a:t>CPU utilization logs</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Memory consumption metrics</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Network traffic statistics</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Task arrival rates </a:t>
            </a:r>
            <a:endParaRPr lang="en-US" sz="1500" dirty="0">
              <a:latin typeface="Times New Roman" pitchFamily="18" charset="0"/>
              <a:cs typeface="Times New Roman" pitchFamily="18" charset="0"/>
            </a:endParaRPr>
          </a:p>
        </p:txBody>
      </p:sp>
      <p:sp>
        <p:nvSpPr>
          <p:cNvPr id="12" name="Shape 9"/>
          <p:cNvSpPr/>
          <p:nvPr/>
        </p:nvSpPr>
        <p:spPr>
          <a:xfrm>
            <a:off x="8031560" y="2437011"/>
            <a:ext cx="3565029" cy="2028528"/>
          </a:xfrm>
          <a:prstGeom prst="roundRect">
            <a:avLst>
              <a:gd name="adj" fmla="val 3522"/>
            </a:avLst>
          </a:prstGeom>
          <a:solidFill>
            <a:srgbClr val="FFFFFF"/>
          </a:solidFill>
          <a:ln w="22860">
            <a:solidFill>
              <a:srgbClr val="C0C1D7"/>
            </a:solidFill>
            <a:prstDash val="solid"/>
          </a:ln>
        </p:spPr>
        <p:txBody>
          <a:bodyPr/>
          <a:lstStyle/>
          <a:p>
            <a:endParaRPr lang="en-IN"/>
          </a:p>
        </p:txBody>
      </p:sp>
      <p:sp>
        <p:nvSpPr>
          <p:cNvPr id="13" name="Text 10"/>
          <p:cNvSpPr/>
          <p:nvPr/>
        </p:nvSpPr>
        <p:spPr>
          <a:xfrm>
            <a:off x="8220670" y="2626122"/>
            <a:ext cx="2554288" cy="265708"/>
          </a:xfrm>
          <a:prstGeom prst="rect">
            <a:avLst/>
          </a:prstGeom>
          <a:noFill/>
          <a:ln/>
        </p:spPr>
        <p:txBody>
          <a:bodyPr wrap="none" lIns="0" tIns="0" rIns="0" bIns="0" rtlCol="0" anchor="t"/>
          <a:lstStyle/>
          <a:p>
            <a:pPr>
              <a:lnSpc>
                <a:spcPts val="2083"/>
              </a:lnSpc>
            </a:pPr>
            <a:r>
              <a:rPr lang="en-IN" sz="1900" b="1" dirty="0">
                <a:latin typeface="Times New Roman" panose="02020603050405020304" pitchFamily="18" charset="0"/>
                <a:cs typeface="Times New Roman" panose="02020603050405020304" pitchFamily="18" charset="0"/>
              </a:rPr>
              <a:t>Data Type</a:t>
            </a:r>
            <a:endParaRPr lang="en-US" sz="1900" b="1" dirty="0">
              <a:latin typeface="Times New Roman" panose="02020603050405020304" pitchFamily="18" charset="0"/>
              <a:cs typeface="Times New Roman" panose="02020603050405020304" pitchFamily="18" charset="0"/>
            </a:endParaRPr>
          </a:p>
        </p:txBody>
      </p:sp>
      <p:sp>
        <p:nvSpPr>
          <p:cNvPr id="14" name="Text 11"/>
          <p:cNvSpPr/>
          <p:nvPr/>
        </p:nvSpPr>
        <p:spPr>
          <a:xfrm>
            <a:off x="8220670" y="2983607"/>
            <a:ext cx="3186807" cy="1292820"/>
          </a:xfrm>
          <a:prstGeom prst="rect">
            <a:avLst/>
          </a:prstGeom>
          <a:noFill/>
          <a:ln/>
        </p:spPr>
        <p:txBody>
          <a:bodyPr wrap="square" lIns="0" tIns="0" rIns="0" bIns="0" rtlCol="0" anchor="t"/>
          <a:lstStyle/>
          <a:p>
            <a:pPr>
              <a:lnSpc>
                <a:spcPts val="2000"/>
              </a:lnSpc>
              <a:buFont typeface="Arial" pitchFamily="34" charset="0"/>
              <a:buChar char="•"/>
            </a:pPr>
            <a:r>
              <a:rPr lang="en-US" sz="1600" dirty="0">
                <a:latin typeface="Times New Roman" pitchFamily="18" charset="0"/>
                <a:cs typeface="Times New Roman" pitchFamily="18" charset="0"/>
              </a:rPr>
              <a:t>Time-series workload data</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Multi-tenant cloud environment traces</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Real-world dynamic workload patterns</a:t>
            </a:r>
            <a:endParaRPr lang="en-US" sz="1500" dirty="0">
              <a:latin typeface="Times New Roman" pitchFamily="18" charset="0"/>
              <a:cs typeface="Times New Roman" pitchFamily="18" charset="0"/>
            </a:endParaRPr>
          </a:p>
        </p:txBody>
      </p:sp>
      <p:sp>
        <p:nvSpPr>
          <p:cNvPr id="16" name="Text 13"/>
          <p:cNvSpPr/>
          <p:nvPr/>
        </p:nvSpPr>
        <p:spPr>
          <a:xfrm>
            <a:off x="784523" y="4807744"/>
            <a:ext cx="2129135" cy="265708"/>
          </a:xfrm>
          <a:prstGeom prst="rect">
            <a:avLst/>
          </a:prstGeom>
          <a:noFill/>
          <a:ln/>
        </p:spPr>
        <p:txBody>
          <a:bodyPr wrap="none" lIns="0" tIns="0" rIns="0" bIns="0" rtlCol="0" anchor="t"/>
          <a:lstStyle/>
          <a:p>
            <a:pPr>
              <a:lnSpc>
                <a:spcPts val="2083"/>
              </a:lnSpc>
            </a:pPr>
            <a:endParaRPr lang="en-US" sz="1900" b="1" dirty="0">
              <a:latin typeface="Times New Roman" panose="02020603050405020304" pitchFamily="18" charset="0"/>
              <a:cs typeface="Times New Roman" panose="02020603050405020304" pitchFamily="18" charset="0"/>
            </a:endParaRPr>
          </a:p>
        </p:txBody>
      </p:sp>
      <p:sp>
        <p:nvSpPr>
          <p:cNvPr id="17" name="Text 14"/>
          <p:cNvSpPr/>
          <p:nvPr/>
        </p:nvSpPr>
        <p:spPr>
          <a:xfrm>
            <a:off x="784522" y="5197666"/>
            <a:ext cx="10622955" cy="364934"/>
          </a:xfrm>
          <a:prstGeom prst="rect">
            <a:avLst/>
          </a:prstGeom>
          <a:noFill/>
          <a:ln/>
        </p:spPr>
        <p:txBody>
          <a:bodyPr wrap="square" lIns="0" tIns="0" rIns="0" bIns="0" rtlCol="0" anchor="t"/>
          <a:lstStyle/>
          <a:p>
            <a:pPr>
              <a:lnSpc>
                <a:spcPts val="2000"/>
              </a:lnSpc>
            </a:pPr>
            <a:endParaRPr lang="en-US" sz="1500"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A3F9DFA3-3497-A12E-D4E0-B67F7AEA34F8}"/>
              </a:ext>
            </a:extLst>
          </p:cNvPr>
          <p:cNvSpPr/>
          <p:nvPr/>
        </p:nvSpPr>
        <p:spPr>
          <a:xfrm>
            <a:off x="10718132" y="6446921"/>
            <a:ext cx="1383632" cy="3024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7238" y="300037"/>
            <a:ext cx="3366884" cy="861774"/>
          </a:xfrm>
          <a:prstGeom prst="rect">
            <a:avLst/>
          </a:prstGeom>
          <a:noFill/>
        </p:spPr>
        <p:txBody>
          <a:bodyPr wrap="none" rtlCol="0">
            <a:spAutoFit/>
          </a:bodyPr>
          <a:lstStyle/>
          <a:p>
            <a:r>
              <a:rPr lang="en-US" sz="2500" b="1" dirty="0">
                <a:solidFill>
                  <a:srgbClr val="000000"/>
                </a:solidFill>
                <a:latin typeface="Times New Roman" panose="02020603050405020304" pitchFamily="18" charset="0"/>
                <a:ea typeface="Inter Bold" pitchFamily="34" charset="-122"/>
                <a:cs typeface="Times New Roman" panose="02020603050405020304" pitchFamily="18" charset="0"/>
              </a:rPr>
              <a:t>Proposed Architecture:</a:t>
            </a:r>
            <a:endParaRPr lang="en-US" sz="2500" b="1" dirty="0">
              <a:latin typeface="Times New Roman" panose="02020603050405020304" pitchFamily="18" charset="0"/>
              <a:cs typeface="Times New Roman" panose="02020603050405020304" pitchFamily="18" charset="0"/>
            </a:endParaRPr>
          </a:p>
          <a:p>
            <a:endParaRPr lang="en-US" sz="2500" dirty="0"/>
          </a:p>
        </p:txBody>
      </p:sp>
      <p:sp>
        <p:nvSpPr>
          <p:cNvPr id="10244" name="AutoShape 4" descr="blob:https://web.whatsapp.com/c26db832-c26a-49f0-8a17-501efd23a1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6" name="AutoShape 6" descr="blob:https://web.whatsapp.com/c26db832-c26a-49f0-8a17-501efd23a1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8" name="AutoShape 8" descr="blob:https://web.whatsapp.com/c26db832-c26a-49f0-8a17-501efd23a1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50" name="AutoShape 10" descr="blob:https://web.whatsapp.com/c26db832-c26a-49f0-8a17-501efd23a1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9" descr="WhatsApp Image 2026-02-28 at 12.25.21 PM.jpeg"/>
          <p:cNvPicPr>
            <a:picLocks noChangeAspect="1"/>
          </p:cNvPicPr>
          <p:nvPr/>
        </p:nvPicPr>
        <p:blipFill>
          <a:blip r:embed="rId2" cstate="print"/>
          <a:stretch>
            <a:fillRect/>
          </a:stretch>
        </p:blipFill>
        <p:spPr>
          <a:xfrm>
            <a:off x="842964" y="938212"/>
            <a:ext cx="10829924" cy="5324475"/>
          </a:xfrm>
          <a:prstGeom prst="rect">
            <a:avLst/>
          </a:prstGeom>
        </p:spPr>
      </p:pic>
    </p:spTree>
    <p:extLst>
      <p:ext uri="{BB962C8B-B14F-4D97-AF65-F5344CB8AC3E}">
        <p14:creationId xmlns:p14="http://schemas.microsoft.com/office/powerpoint/2010/main" val="888436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print"/>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85000"/>
            </a:srgbClr>
          </a:solidFill>
          <a:ln/>
        </p:spPr>
        <p:txBody>
          <a:bodyPr/>
          <a:lstStyle/>
          <a:p>
            <a:endParaRPr lang="en-IN"/>
          </a:p>
        </p:txBody>
      </p:sp>
      <p:sp>
        <p:nvSpPr>
          <p:cNvPr id="4" name="Text 1"/>
          <p:cNvSpPr/>
          <p:nvPr/>
        </p:nvSpPr>
        <p:spPr>
          <a:xfrm>
            <a:off x="3483429" y="3026227"/>
            <a:ext cx="6836228" cy="1012371"/>
          </a:xfrm>
          <a:prstGeom prst="rect">
            <a:avLst/>
          </a:prstGeom>
          <a:noFill/>
          <a:ln/>
        </p:spPr>
        <p:txBody>
          <a:bodyPr wrap="none" lIns="0" tIns="0" rIns="0" bIns="0" rtlCol="0" anchor="t"/>
          <a:lstStyle/>
          <a:p>
            <a:pPr>
              <a:lnSpc>
                <a:spcPts val="4167"/>
              </a:lnSpc>
            </a:pPr>
            <a:r>
              <a:rPr lang="en-US" sz="3900" b="1" dirty="0">
                <a:latin typeface="Times New Roman" panose="02020603050405020304" pitchFamily="18" charset="0"/>
                <a:cs typeface="Times New Roman" panose="02020603050405020304" pitchFamily="18" charset="0"/>
              </a:rPr>
              <a:t>Implementation and Demo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E8191D-AC5F-3B89-759B-C46094B58DB1}"/>
              </a:ext>
            </a:extLst>
          </p:cNvPr>
          <p:cNvSpPr txBox="1"/>
          <p:nvPr/>
        </p:nvSpPr>
        <p:spPr>
          <a:xfrm>
            <a:off x="1001486" y="566057"/>
            <a:ext cx="5170714" cy="692497"/>
          </a:xfrm>
          <a:prstGeom prst="rect">
            <a:avLst/>
          </a:prstGeom>
          <a:noFill/>
        </p:spPr>
        <p:txBody>
          <a:bodyPr wrap="square" rtlCol="0">
            <a:spAutoFit/>
          </a:bodyPr>
          <a:lstStyle/>
          <a:p>
            <a:r>
              <a:rPr lang="en-US" sz="3900" b="1" kern="1200" dirty="0">
                <a:solidFill>
                  <a:schemeClr val="tx1"/>
                </a:solidFill>
                <a:latin typeface="Times New Roman" panose="02020603050405020304" pitchFamily="18" charset="0"/>
                <a:cs typeface="Times New Roman" panose="02020603050405020304" pitchFamily="18" charset="0"/>
              </a:rPr>
              <a:t>Results and Analysis</a:t>
            </a:r>
          </a:p>
        </p:txBody>
      </p:sp>
      <p:sp>
        <p:nvSpPr>
          <p:cNvPr id="7" name="TextBox 6">
            <a:extLst>
              <a:ext uri="{FF2B5EF4-FFF2-40B4-BE49-F238E27FC236}">
                <a16:creationId xmlns:a16="http://schemas.microsoft.com/office/drawing/2014/main" id="{C6EFE456-D464-3A82-1EAC-A9E8C890508C}"/>
              </a:ext>
            </a:extLst>
          </p:cNvPr>
          <p:cNvSpPr txBox="1"/>
          <p:nvPr/>
        </p:nvSpPr>
        <p:spPr>
          <a:xfrm>
            <a:off x="1464967" y="1866025"/>
            <a:ext cx="4604657" cy="677108"/>
          </a:xfrm>
          <a:prstGeom prst="rect">
            <a:avLst/>
          </a:prstGeom>
          <a:noFill/>
        </p:spPr>
        <p:txBody>
          <a:bodyPr wrap="square" rtlCol="0">
            <a:spAutoFit/>
          </a:bodyPr>
          <a:lstStyle/>
          <a:p>
            <a:r>
              <a:rPr lang="en-IN" sz="1900" b="1" dirty="0" err="1">
                <a:latin typeface="Times New Roman" panose="02020603050405020304" pitchFamily="18" charset="0"/>
                <a:cs typeface="Times New Roman" panose="02020603050405020304" pitchFamily="18" charset="0"/>
              </a:rPr>
              <a:t>XGBoost</a:t>
            </a:r>
            <a:r>
              <a:rPr lang="en-IN" sz="1900" b="1" dirty="0">
                <a:latin typeface="Times New Roman" panose="02020603050405020304" pitchFamily="18" charset="0"/>
                <a:cs typeface="Times New Roman" panose="02020603050405020304" pitchFamily="18" charset="0"/>
              </a:rPr>
              <a:t>:</a:t>
            </a:r>
          </a:p>
          <a:p>
            <a:endParaRPr lang="en-IN" sz="1900" b="1" dirty="0">
              <a:latin typeface="Times New Roman" panose="02020603050405020304" pitchFamily="18" charset="0"/>
              <a:cs typeface="Times New Roman" panose="02020603050405020304" pitchFamily="18" charset="0"/>
            </a:endParaRPr>
          </a:p>
        </p:txBody>
      </p:sp>
      <p:sp>
        <p:nvSpPr>
          <p:cNvPr id="5122" name="AutoShape 2" descr="blob:https://web.whatsapp.com/04750e88-59ff-4862-8698-76fbd05e327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 name="Picture 7" descr="WhatsApp Image 2026-02-28 at 12.29.07 PM.jpeg"/>
          <p:cNvPicPr>
            <a:picLocks noChangeAspect="1"/>
          </p:cNvPicPr>
          <p:nvPr/>
        </p:nvPicPr>
        <p:blipFill>
          <a:blip r:embed="rId2" cstate="print"/>
          <a:stretch>
            <a:fillRect/>
          </a:stretch>
        </p:blipFill>
        <p:spPr>
          <a:xfrm>
            <a:off x="3590926" y="1171575"/>
            <a:ext cx="6410324" cy="5029199"/>
          </a:xfrm>
          <a:prstGeom prst="rect">
            <a:avLst/>
          </a:prstGeom>
        </p:spPr>
      </p:pic>
    </p:spTree>
    <p:extLst>
      <p:ext uri="{BB962C8B-B14F-4D97-AF65-F5344CB8AC3E}">
        <p14:creationId xmlns:p14="http://schemas.microsoft.com/office/powerpoint/2010/main" val="612876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WhatsApp Image 2026-02-28 at 12.29.07 PM (1).jpeg"/>
          <p:cNvPicPr>
            <a:picLocks noChangeAspect="1"/>
          </p:cNvPicPr>
          <p:nvPr/>
        </p:nvPicPr>
        <p:blipFill>
          <a:blip r:embed="rId2" cstate="print"/>
          <a:stretch>
            <a:fillRect/>
          </a:stretch>
        </p:blipFill>
        <p:spPr>
          <a:xfrm>
            <a:off x="2386013" y="714375"/>
            <a:ext cx="7215187" cy="5157788"/>
          </a:xfrm>
          <a:prstGeom prst="rect">
            <a:avLst/>
          </a:prstGeom>
        </p:spPr>
      </p:pic>
    </p:spTree>
    <p:extLst>
      <p:ext uri="{BB962C8B-B14F-4D97-AF65-F5344CB8AC3E}">
        <p14:creationId xmlns:p14="http://schemas.microsoft.com/office/powerpoint/2010/main" val="1346952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42975" y="928688"/>
            <a:ext cx="2084225" cy="538609"/>
          </a:xfrm>
          <a:prstGeom prst="rect">
            <a:avLst/>
          </a:prstGeom>
          <a:noFill/>
        </p:spPr>
        <p:txBody>
          <a:bodyPr wrap="none" rtlCol="0">
            <a:spAutoFit/>
          </a:bodyPr>
          <a:lstStyle/>
          <a:p>
            <a:r>
              <a:rPr lang="en-US" sz="2900" b="1" dirty="0">
                <a:latin typeface="Times New Roman" pitchFamily="18" charset="0"/>
                <a:cs typeface="Times New Roman" pitchFamily="18" charset="0"/>
              </a:rPr>
              <a:t>Conclusion:</a:t>
            </a:r>
          </a:p>
        </p:txBody>
      </p:sp>
      <p:sp>
        <p:nvSpPr>
          <p:cNvPr id="7" name="TextBox 6"/>
          <p:cNvSpPr txBox="1"/>
          <p:nvPr/>
        </p:nvSpPr>
        <p:spPr>
          <a:xfrm>
            <a:off x="1871663" y="2200276"/>
            <a:ext cx="7300913" cy="369332"/>
          </a:xfrm>
          <a:prstGeom prst="rect">
            <a:avLst/>
          </a:prstGeom>
          <a:noFill/>
        </p:spPr>
        <p:txBody>
          <a:bodyPr wrap="square" rtlCol="0">
            <a:spAutoFit/>
          </a:bodyPr>
          <a:lstStyle/>
          <a:p>
            <a:endParaRPr lang="en-US" dirty="0"/>
          </a:p>
        </p:txBody>
      </p:sp>
      <p:sp>
        <p:nvSpPr>
          <p:cNvPr id="8" name="Rectangle 7"/>
          <p:cNvSpPr/>
          <p:nvPr/>
        </p:nvSpPr>
        <p:spPr>
          <a:xfrm>
            <a:off x="1671637" y="1720840"/>
            <a:ext cx="8515351" cy="3816429"/>
          </a:xfrm>
          <a:prstGeom prst="rect">
            <a:avLst/>
          </a:prstGeom>
        </p:spPr>
        <p:txBody>
          <a:bodyPr wrap="square">
            <a:spAutoFit/>
          </a:bodyPr>
          <a:lstStyle/>
          <a:p>
            <a:pPr marL="457200" indent="-457200">
              <a:buFont typeface="+mj-lt"/>
              <a:buAutoNum type="arabicPeriod"/>
            </a:pPr>
            <a:r>
              <a:rPr lang="en-US" sz="2200" dirty="0">
                <a:latin typeface="Times New Roman" pitchFamily="18" charset="0"/>
                <a:cs typeface="Times New Roman" pitchFamily="18" charset="0"/>
              </a:rPr>
              <a:t>This project presents an AI-driven intelligent cloud resource allocation framework that proactively predicts workload demand and dynamically optimizes resource distribution. By integrating predictive modeling, optimization techniques, and reinforcement learning, the system effectively balances SLA compliance and operational cost efficiency.</a:t>
            </a:r>
          </a:p>
          <a:p>
            <a:pPr marL="457200" indent="-457200">
              <a:buFont typeface="+mj-lt"/>
              <a:buAutoNum type="arabicPeriod"/>
            </a:pPr>
            <a:r>
              <a:rPr lang="en-US" sz="2200" dirty="0">
                <a:latin typeface="Times New Roman" pitchFamily="18" charset="0"/>
                <a:cs typeface="Times New Roman" pitchFamily="18" charset="0"/>
              </a:rPr>
              <a:t>The proposed approach reduces resource over-provisioning, minimizes SLA violations, and enhances overall cloud performance.</a:t>
            </a:r>
          </a:p>
          <a:p>
            <a:pPr marL="457200" indent="-457200">
              <a:buFont typeface="+mj-lt"/>
              <a:buAutoNum type="arabicPeriod"/>
            </a:pPr>
            <a:r>
              <a:rPr lang="en-US" sz="2200" dirty="0">
                <a:latin typeface="Times New Roman" pitchFamily="18" charset="0"/>
                <a:cs typeface="Times New Roman" pitchFamily="18" charset="0"/>
              </a:rPr>
              <a:t>This work establishes a foundation for autonomous, scalable, and cost-effective cloud resource management in modern dynamic cloud environments.</a:t>
            </a:r>
          </a:p>
        </p:txBody>
      </p:sp>
    </p:spTree>
    <p:extLst>
      <p:ext uri="{BB962C8B-B14F-4D97-AF65-F5344CB8AC3E}">
        <p14:creationId xmlns:p14="http://schemas.microsoft.com/office/powerpoint/2010/main" val="1273112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00150" y="1028700"/>
            <a:ext cx="2035814" cy="538609"/>
          </a:xfrm>
          <a:prstGeom prst="rect">
            <a:avLst/>
          </a:prstGeom>
          <a:noFill/>
        </p:spPr>
        <p:txBody>
          <a:bodyPr wrap="none" rtlCol="0">
            <a:spAutoFit/>
          </a:bodyPr>
          <a:lstStyle/>
          <a:p>
            <a:r>
              <a:rPr lang="en-US" sz="2900" b="1" dirty="0">
                <a:latin typeface="Times New Roman" pitchFamily="18" charset="0"/>
                <a:cs typeface="Times New Roman" pitchFamily="18" charset="0"/>
              </a:rPr>
              <a:t>References:</a:t>
            </a:r>
          </a:p>
        </p:txBody>
      </p:sp>
      <p:sp>
        <p:nvSpPr>
          <p:cNvPr id="7" name="TextBox 6"/>
          <p:cNvSpPr txBox="1"/>
          <p:nvPr/>
        </p:nvSpPr>
        <p:spPr>
          <a:xfrm>
            <a:off x="800100" y="2125611"/>
            <a:ext cx="10887075" cy="3139321"/>
          </a:xfrm>
          <a:prstGeom prst="rect">
            <a:avLst/>
          </a:prstGeom>
          <a:noFill/>
        </p:spPr>
        <p:txBody>
          <a:bodyPr wrap="square" rtlCol="0">
            <a:spAutoFit/>
          </a:bodyPr>
          <a:lstStyle/>
          <a:p>
            <a:pPr marL="342900" indent="-342900">
              <a:buFont typeface="+mj-lt"/>
              <a:buAutoNum type="arabicPeriod"/>
            </a:pPr>
            <a:r>
              <a:rPr lang="en-US" dirty="0">
                <a:latin typeface="Times New Roman" pitchFamily="18" charset="0"/>
                <a:cs typeface="Times New Roman" pitchFamily="18" charset="0"/>
              </a:rPr>
              <a:t>Rossi, I., &amp; </a:t>
            </a:r>
            <a:r>
              <a:rPr lang="en-US" dirty="0" err="1">
                <a:latin typeface="Times New Roman" pitchFamily="18" charset="0"/>
                <a:cs typeface="Times New Roman" pitchFamily="18" charset="0"/>
              </a:rPr>
              <a:t>Adu</a:t>
            </a:r>
            <a:r>
              <a:rPr lang="en-US" dirty="0">
                <a:latin typeface="Times New Roman" pitchFamily="18" charset="0"/>
                <a:cs typeface="Times New Roman" pitchFamily="18" charset="0"/>
              </a:rPr>
              <a:t>, E. (2026). </a:t>
            </a:r>
            <a:r>
              <a:rPr lang="en-US" i="1" dirty="0">
                <a:latin typeface="Times New Roman" pitchFamily="18" charset="0"/>
                <a:cs typeface="Times New Roman" pitchFamily="18" charset="0"/>
              </a:rPr>
              <a:t>AI-Powered Resource Management for Cost-Effective and SLA-Compliant Cloud Operations</a:t>
            </a:r>
            <a:r>
              <a:rPr lang="en-US" dirty="0">
                <a:latin typeface="Times New Roman" pitchFamily="18" charset="0"/>
                <a:cs typeface="Times New Roman" pitchFamily="18" charset="0"/>
              </a:rPr>
              <a:t>. AI2-1</a:t>
            </a:r>
          </a:p>
          <a:p>
            <a:pPr marL="342900" indent="-342900">
              <a:buFont typeface="+mj-lt"/>
              <a:buAutoNum type="arabicPeriod"/>
            </a:pPr>
            <a:r>
              <a:rPr lang="en-US" dirty="0">
                <a:latin typeface="Times New Roman" pitchFamily="18" charset="0"/>
                <a:cs typeface="Times New Roman" pitchFamily="18" charset="0"/>
              </a:rPr>
              <a:t>Zhang, W., Chen, M., Li, L., &amp; </a:t>
            </a:r>
            <a:r>
              <a:rPr lang="en-US" dirty="0" err="1">
                <a:latin typeface="Times New Roman" pitchFamily="18" charset="0"/>
                <a:cs typeface="Times New Roman" pitchFamily="18" charset="0"/>
              </a:rPr>
              <a:t>Zeng</a:t>
            </a:r>
            <a:r>
              <a:rPr lang="en-US" dirty="0">
                <a:latin typeface="Times New Roman" pitchFamily="18" charset="0"/>
                <a:cs typeface="Times New Roman" pitchFamily="18" charset="0"/>
              </a:rPr>
              <a:t>, L. (2020). AI-based predictive resource allocation for SLA compliance. </a:t>
            </a:r>
            <a:r>
              <a:rPr lang="en-US" i="1" dirty="0">
                <a:latin typeface="Times New Roman" pitchFamily="18" charset="0"/>
                <a:cs typeface="Times New Roman" pitchFamily="18" charset="0"/>
              </a:rPr>
              <a:t>Future Generation Computer Systems</a:t>
            </a:r>
            <a:r>
              <a:rPr lang="en-US" dirty="0">
                <a:latin typeface="Times New Roman" pitchFamily="18" charset="0"/>
                <a:cs typeface="Times New Roman" pitchFamily="18" charset="0"/>
              </a:rPr>
              <a:t>, 102, 140–153.</a:t>
            </a:r>
          </a:p>
          <a:p>
            <a:pPr marL="342900" indent="-342900">
              <a:buFont typeface="+mj-lt"/>
              <a:buAutoNum type="arabicPeriod"/>
            </a:pPr>
            <a:r>
              <a:rPr lang="en-US" dirty="0">
                <a:latin typeface="Times New Roman" pitchFamily="18" charset="0"/>
                <a:cs typeface="Times New Roman" pitchFamily="18" charset="0"/>
              </a:rPr>
              <a:t>Singh, R., Gill, S. S., &amp; </a:t>
            </a:r>
            <a:r>
              <a:rPr lang="en-US" dirty="0" err="1">
                <a:latin typeface="Times New Roman" pitchFamily="18" charset="0"/>
                <a:cs typeface="Times New Roman" pitchFamily="18" charset="0"/>
              </a:rPr>
              <a:t>Buyya</a:t>
            </a:r>
            <a:r>
              <a:rPr lang="en-US" dirty="0">
                <a:latin typeface="Times New Roman" pitchFamily="18" charset="0"/>
                <a:cs typeface="Times New Roman" pitchFamily="18" charset="0"/>
              </a:rPr>
              <a:t>, R. (2024). AI-powered adaptive resource management for SLA adherence. </a:t>
            </a:r>
            <a:r>
              <a:rPr lang="en-US" i="1" dirty="0">
                <a:latin typeface="Times New Roman" pitchFamily="18" charset="0"/>
                <a:cs typeface="Times New Roman" pitchFamily="18" charset="0"/>
              </a:rPr>
              <a:t>Journal of Cloud Computing</a:t>
            </a:r>
            <a:r>
              <a:rPr lang="en-US" dirty="0">
                <a:latin typeface="Times New Roman" pitchFamily="18" charset="0"/>
                <a:cs typeface="Times New Roman" pitchFamily="18" charset="0"/>
              </a:rPr>
              <a:t>, 13(1), 1–21.</a:t>
            </a:r>
          </a:p>
          <a:p>
            <a:pPr marL="342900" indent="-342900">
              <a:buFont typeface="+mj-lt"/>
              <a:buAutoNum type="arabicPeriod"/>
            </a:pPr>
            <a:r>
              <a:rPr lang="en-US" dirty="0" err="1">
                <a:latin typeface="Times New Roman" pitchFamily="18" charset="0"/>
                <a:cs typeface="Times New Roman" pitchFamily="18" charset="0"/>
              </a:rPr>
              <a:t>Luo</a:t>
            </a:r>
            <a:r>
              <a:rPr lang="en-US" dirty="0">
                <a:latin typeface="Times New Roman" pitchFamily="18" charset="0"/>
                <a:cs typeface="Times New Roman" pitchFamily="18" charset="0"/>
              </a:rPr>
              <a:t>, Y., Yu, H., &amp; Chen, X. (2024). Hybrid predictive-RL AI frameworks for cloud SLA compliance. </a:t>
            </a:r>
            <a:r>
              <a:rPr lang="en-US" i="1" dirty="0">
                <a:latin typeface="Times New Roman" pitchFamily="18" charset="0"/>
                <a:cs typeface="Times New Roman" pitchFamily="18" charset="0"/>
              </a:rPr>
              <a:t>IEEE Transactions on Services Computing</a:t>
            </a:r>
            <a:r>
              <a:rPr lang="en-US" dirty="0">
                <a:latin typeface="Times New Roman" pitchFamily="18" charset="0"/>
                <a:cs typeface="Times New Roman" pitchFamily="18" charset="0"/>
              </a:rPr>
              <a:t>, 17(2), 612–624.</a:t>
            </a:r>
          </a:p>
          <a:p>
            <a:pPr marL="342900" indent="-342900">
              <a:buFont typeface="+mj-lt"/>
              <a:buAutoNum type="arabicPeriod"/>
            </a:pPr>
            <a:r>
              <a:rPr lang="en-US" dirty="0">
                <a:latin typeface="Times New Roman" pitchFamily="18" charset="0"/>
                <a:cs typeface="Times New Roman" pitchFamily="18" charset="0"/>
              </a:rPr>
              <a:t>Hassan, M. M., Lin, K., &amp; </a:t>
            </a:r>
            <a:r>
              <a:rPr lang="en-US" dirty="0" err="1">
                <a:latin typeface="Times New Roman" pitchFamily="18" charset="0"/>
                <a:cs typeface="Times New Roman" pitchFamily="18" charset="0"/>
              </a:rPr>
              <a:t>Alamri</a:t>
            </a:r>
            <a:r>
              <a:rPr lang="en-US" dirty="0">
                <a:latin typeface="Times New Roman" pitchFamily="18" charset="0"/>
                <a:cs typeface="Times New Roman" pitchFamily="18" charset="0"/>
              </a:rPr>
              <a:t>, A. (2024). AI-driven cost-effective SLA management in cloud computing. </a:t>
            </a:r>
            <a:r>
              <a:rPr lang="en-US" i="1" dirty="0">
                <a:latin typeface="Times New Roman" pitchFamily="18" charset="0"/>
                <a:cs typeface="Times New Roman" pitchFamily="18" charset="0"/>
              </a:rPr>
              <a:t>Future Generation Computer Systems</a:t>
            </a:r>
            <a:r>
              <a:rPr lang="en-US" dirty="0">
                <a:latin typeface="Times New Roman" pitchFamily="18" charset="0"/>
                <a:cs typeface="Times New Roman" pitchFamily="18" charset="0"/>
              </a:rPr>
              <a:t>, 148, 102–115.</a:t>
            </a:r>
          </a:p>
          <a:p>
            <a:pPr marL="342900" indent="-342900">
              <a:buFont typeface="+mj-lt"/>
              <a:buAutoNum type="arabicPeriod"/>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315016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1134</Words>
  <Application>Microsoft Office PowerPoint</Application>
  <PresentationFormat>Widescreen</PresentationFormat>
  <Paragraphs>87</Paragraphs>
  <Slides>15</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Inter</vt:lpstr>
      <vt:lpstr>Inter Bold</vt:lpstr>
      <vt:lpstr>Inter Light</vt:lpstr>
      <vt:lpstr>Times New Roman</vt:lpstr>
      <vt:lpstr>Office Theme</vt:lpstr>
      <vt:lpstr>AI-Driven Cloud Resource Allocation Using Predictive &amp; Reinforcement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Intelligent Cloud Resource Allocation Using Predictive &amp; Reinforcement Learning</dc:title>
  <dc:creator>Harika Mamidi</dc:creator>
  <cp:lastModifiedBy>Srivan Kumar Adupa</cp:lastModifiedBy>
  <cp:revision>19</cp:revision>
  <dcterms:created xsi:type="dcterms:W3CDTF">2026-02-13T09:20:43Z</dcterms:created>
  <dcterms:modified xsi:type="dcterms:W3CDTF">2026-02-28T10:31:23Z</dcterms:modified>
</cp:coreProperties>
</file>